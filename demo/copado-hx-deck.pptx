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embeddedFontLst>
    <p:embeddedFont>
      <p:font typeface="Inter Light"/>
      <p:regular r:id="rId14"/>
      <p:bold r:id="rId15"/>
      <p:italic r:id="rId16"/>
      <p:boldItalic r:id="rId17"/>
    </p:embeddedFont>
    <p:embeddedFont>
      <p:font typeface="Inter SemiBold"/>
      <p:regular r:id="rId18"/>
      <p:bold r:id="rId19"/>
      <p:italic r:id="rId20"/>
      <p:boldItalic r:id="rId21"/>
    </p:embeddedFont>
    <p:embeddedFont>
      <p:font typeface="Inter"/>
      <p:bold r:id="rId22"/>
      <p:boldItalic r:id="rId23"/>
    </p:embeddedFont>
    <p:embeddedFont>
      <p:font typeface="Inter ExtraBold"/>
      <p:bold r:id="rId24"/>
      <p:boldItalic r:id="rId25"/>
    </p:embeddedFont>
    <p:embeddedFont>
      <p:font typeface="Oswald"/>
      <p:bold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jL2ISxqziLVeCF8MShL/1qPcDJ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ExtraBold-bold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bold.fntdata"/><Relationship Id="rId25" Type="http://schemas.openxmlformats.org/officeDocument/2006/relationships/font" Target="fonts/InterExtraBold-boldItalic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Light-bold.fntdata"/><Relationship Id="rId14" Type="http://schemas.openxmlformats.org/officeDocument/2006/relationships/font" Target="fonts/InterLight-regular.fntdata"/><Relationship Id="rId17" Type="http://schemas.openxmlformats.org/officeDocument/2006/relationships/font" Target="fonts/InterLight-boldItalic.fntdata"/><Relationship Id="rId16" Type="http://schemas.openxmlformats.org/officeDocument/2006/relationships/font" Target="fonts/InterLight-italic.fntdata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428750" y="-2381250"/>
            <a:ext cx="16192500" cy="10668000"/>
            <a:chOff x="-1428750" y="-2381250"/>
            <a:chExt cx="16192500" cy="10668000"/>
          </a:xfrm>
        </p:grpSpPr>
        <p:sp>
          <p:nvSpPr>
            <p:cNvPr id="85" name="Google Shape;85;p1"/>
            <p:cNvSpPr/>
            <p:nvPr/>
          </p:nvSpPr>
          <p:spPr>
            <a:xfrm>
              <a:off x="8096250" y="-2381250"/>
              <a:ext cx="6667500" cy="6667500"/>
            </a:xfrm>
            <a:prstGeom prst="ellipse">
              <a:avLst/>
            </a:prstGeom>
            <a:solidFill>
              <a:srgbClr val="00D2FF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-1428750" y="3524250"/>
              <a:ext cx="4762500" cy="4762500"/>
            </a:xfrm>
            <a:prstGeom prst="ellipse">
              <a:avLst/>
            </a:prstGeom>
            <a:solidFill>
              <a:srgbClr val="7C3AED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571500" y="476250"/>
            <a:ext cx="5715000" cy="1704975"/>
            <a:chOff x="571500" y="476250"/>
            <a:chExt cx="5715000" cy="1704975"/>
          </a:xfrm>
        </p:grpSpPr>
        <p:sp>
          <p:nvSpPr>
            <p:cNvPr id="88" name="Google Shape;88;p1"/>
            <p:cNvSpPr/>
            <p:nvPr/>
          </p:nvSpPr>
          <p:spPr>
            <a:xfrm>
              <a:off x="571500" y="476250"/>
              <a:ext cx="1333500" cy="266700"/>
            </a:xfrm>
            <a:prstGeom prst="roundRect">
              <a:avLst>
                <a:gd fmla="val 50000" name="adj"/>
              </a:avLst>
            </a:prstGeom>
            <a:solidFill>
              <a:srgbClr val="00D2FF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571500" y="476250"/>
              <a:ext cx="13335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CopadoCON 2026</a:t>
              </a:r>
              <a:endParaRPr b="1" sz="10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571500" y="904875"/>
              <a:ext cx="5715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03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copado-hx</a:t>
              </a:r>
              <a:endParaRPr b="0" sz="403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571500" y="1619250"/>
              <a:ext cx="5715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35">
                  <a:solidFill>
                    <a:srgbClr val="00D2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Headless Salesforce DevOps</a:t>
              </a:r>
              <a:endParaRPr b="0" sz="2035">
                <a:solidFill>
                  <a:srgbClr val="00D2F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71500" y="2143125"/>
              <a:ext cx="571500" cy="38100"/>
            </a:xfrm>
            <a:prstGeom prst="rect">
              <a:avLst/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571500" y="2571750"/>
            <a:ext cx="47625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rPr>
              <a:t>Track B · Agentic Orchestrator</a:t>
            </a:r>
            <a:endParaRPr b="0" sz="1400">
              <a:solidFill>
                <a:srgbClr val="A0A2B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Ravalika Bommera</a:t>
            </a:r>
            <a:endParaRPr b="0" sz="1400">
              <a:solidFill>
                <a:srgbClr val="A0A2B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Kartheek Dasari</a:t>
            </a:r>
            <a:endParaRPr b="0" sz="1400">
              <a:solidFill>
                <a:srgbClr val="A0A2B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Team: Headless Nomads</a:t>
            </a:r>
            <a:endParaRPr b="0" i="1" sz="1400">
              <a:solidFill>
                <a:srgbClr val="88888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6477000" y="1333500"/>
            <a:ext cx="5143500" cy="3619500"/>
            <a:chOff x="6477000" y="1333500"/>
            <a:chExt cx="5143500" cy="3619500"/>
          </a:xfrm>
        </p:grpSpPr>
        <p:sp>
          <p:nvSpPr>
            <p:cNvPr id="95" name="Google Shape;95;p1"/>
            <p:cNvSpPr/>
            <p:nvPr/>
          </p:nvSpPr>
          <p:spPr>
            <a:xfrm>
              <a:off x="6477000" y="1333500"/>
              <a:ext cx="2476500" cy="1714500"/>
            </a:xfrm>
            <a:prstGeom prst="roundRect">
              <a:avLst>
                <a:gd fmla="val 11111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6477000" y="1333500"/>
              <a:ext cx="24765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</a:t>
              </a:r>
              <a:r>
                <a:rPr b="0" lang="en-US" sz="6000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7</a:t>
              </a:r>
              <a:endParaRPr b="0" sz="6000">
                <a:solidFill>
                  <a:srgbClr val="00D2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CLI Commands</a:t>
              </a:r>
              <a:endParaRPr b="0" sz="14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9144000" y="1333500"/>
              <a:ext cx="2476500" cy="1714500"/>
            </a:xfrm>
            <a:prstGeom prst="roundRect">
              <a:avLst>
                <a:gd fmla="val 11111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9144000" y="1333500"/>
              <a:ext cx="24765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</a:t>
              </a:r>
              <a:endParaRPr b="0" sz="6000">
                <a:solidFill>
                  <a:srgbClr val="00D2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API Surfaces</a:t>
              </a:r>
              <a:endParaRPr b="0" sz="14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6477000" y="3238500"/>
              <a:ext cx="2476500" cy="1714500"/>
            </a:xfrm>
            <a:prstGeom prst="roundRect">
              <a:avLst>
                <a:gd fmla="val 11111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6477000" y="3238500"/>
              <a:ext cx="24765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0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</a:t>
              </a:r>
              <a:r>
                <a:rPr lang="en-US" sz="6000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</a:t>
              </a:r>
              <a:endParaRPr b="0" sz="6000">
                <a:solidFill>
                  <a:srgbClr val="00D2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Source Files</a:t>
              </a:r>
              <a:endParaRPr b="0" sz="14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9144000" y="3238500"/>
              <a:ext cx="2476500" cy="1714500"/>
            </a:xfrm>
            <a:prstGeom prst="roundRect">
              <a:avLst>
                <a:gd fmla="val 11111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9144000" y="3238500"/>
              <a:ext cx="24765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0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</a:t>
              </a:r>
              <a:endParaRPr b="0" sz="6000">
                <a:solidFill>
                  <a:srgbClr val="00D2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MCP Server</a:t>
              </a:r>
              <a:endParaRPr b="0" sz="14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>
            <a:off x="0" y="6381750"/>
            <a:ext cx="12192000" cy="476400"/>
            <a:chOff x="0" y="6381750"/>
            <a:chExt cx="12192000" cy="47640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05060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571500" y="6381750"/>
              <a:ext cx="3810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B6D82"/>
                  </a:solidFill>
                  <a:latin typeface="Inter"/>
                  <a:ea typeface="Inter"/>
                  <a:cs typeface="Inter"/>
                  <a:sym typeface="Inter"/>
                </a:rPr>
                <a:t>copado-hx · CopadoCON Bangalore 2026</a:t>
              </a:r>
              <a:endParaRPr b="0" sz="9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4191000" y="6381750"/>
              <a:ext cx="3810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● ○ ○ ○ ○ ○ ○</a:t>
              </a:r>
              <a:endParaRPr b="0" sz="10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10858500" y="6381750"/>
              <a:ext cx="762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6B6D82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b="0" sz="9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2"/>
          <p:cNvGrpSpPr/>
          <p:nvPr/>
        </p:nvGrpSpPr>
        <p:grpSpPr>
          <a:xfrm>
            <a:off x="-2705100" y="-666750"/>
            <a:ext cx="11849250" cy="5810288"/>
            <a:chOff x="-2705100" y="-666750"/>
            <a:chExt cx="11849250" cy="5810288"/>
          </a:xfrm>
        </p:grpSpPr>
        <p:pic>
          <p:nvPicPr>
            <p:cNvPr id="113" name="Google Shape;113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29650" y="-666750"/>
              <a:ext cx="514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2705100" y="2166938"/>
              <a:ext cx="7315200" cy="2976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2"/>
          <p:cNvSpPr txBox="1"/>
          <p:nvPr/>
        </p:nvSpPr>
        <p:spPr>
          <a:xfrm>
            <a:off x="571500" y="428625"/>
            <a:ext cx="1104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Problem</a:t>
            </a:r>
            <a:endParaRPr b="0" sz="4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00D2FF"/>
                </a:solidFill>
                <a:latin typeface="Inter Light"/>
                <a:ea typeface="Inter Light"/>
                <a:cs typeface="Inter Light"/>
                <a:sym typeface="Inter Light"/>
              </a:rPr>
              <a:t>Salesforce DevOps is fragmented across multiple browser tabs</a:t>
            </a:r>
            <a:endParaRPr b="0" sz="2200">
              <a:solidFill>
                <a:srgbClr val="00D2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571500" y="1905000"/>
            <a:ext cx="11048925" cy="3048000"/>
            <a:chOff x="571500" y="1905000"/>
            <a:chExt cx="11048925" cy="3048000"/>
          </a:xfrm>
        </p:grpSpPr>
        <p:sp>
          <p:nvSpPr>
            <p:cNvPr id="117" name="Google Shape;117;p2"/>
            <p:cNvSpPr/>
            <p:nvPr/>
          </p:nvSpPr>
          <p:spPr>
            <a:xfrm>
              <a:off x="571500" y="1905000"/>
              <a:ext cx="2619300" cy="3048000"/>
            </a:xfrm>
            <a:prstGeom prst="roundRect">
              <a:avLst>
                <a:gd fmla="val 5818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571500" y="1905000"/>
              <a:ext cx="26193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b="1" sz="32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Context Switching</a:t>
              </a:r>
              <a:endParaRPr b="1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CI/CD in Lightning, robots in CRT, AI in Context Hub — 3 separate UIs</a:t>
              </a:r>
              <a:endParaRPr b="0" sz="13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3381375" y="1905000"/>
              <a:ext cx="2619300" cy="3048000"/>
            </a:xfrm>
            <a:prstGeom prst="roundRect">
              <a:avLst>
                <a:gd fmla="val 5818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3381375" y="1905000"/>
              <a:ext cx="26193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b="1" sz="32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Manual Pipelines</a:t>
              </a:r>
              <a:endParaRPr b="1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Every commit, test, deploy needs human clicking through screens</a:t>
              </a:r>
              <a:endParaRPr b="0" sz="13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6191250" y="1905000"/>
              <a:ext cx="2619300" cy="3048000"/>
            </a:xfrm>
            <a:prstGeom prst="roundRect">
              <a:avLst>
                <a:gd fmla="val 5818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6191250" y="1905000"/>
              <a:ext cx="26193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b="1" sz="32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Fragmented APIs</a:t>
              </a:r>
              <a:endParaRPr b="1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Each surface has different auth, different endpoints, different SDKs</a:t>
              </a:r>
              <a:endParaRPr b="0" sz="13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9001125" y="1905000"/>
              <a:ext cx="2619300" cy="3048000"/>
            </a:xfrm>
            <a:prstGeom prst="roundRect">
              <a:avLst>
                <a:gd fmla="val 5818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9001125" y="1905000"/>
              <a:ext cx="26193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b="1" sz="32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Slow Releases</a:t>
              </a:r>
              <a:endParaRPr b="1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Browser-heavy workflow slows from cognitive overload</a:t>
              </a:r>
              <a:endParaRPr b="0" sz="13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5" name="Google Shape;125;p2"/>
          <p:cNvSpPr txBox="1"/>
          <p:nvPr/>
        </p:nvSpPr>
        <p:spPr>
          <a:xfrm>
            <a:off x="571500" y="53340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✦ </a:t>
            </a:r>
            <a:r>
              <a:rPr b="1"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CLI. One Agent.</a:t>
            </a:r>
            <a:r>
              <a:rPr b="1" lang="en-US" sz="2800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28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rPr>
              <a:t>Zero Browser Tabs.</a:t>
            </a:r>
            <a:r>
              <a:rPr b="1" lang="en-US" sz="2800">
                <a:solidFill>
                  <a:srgbClr val="FFD700"/>
                </a:solidFill>
                <a:latin typeface="Inter"/>
                <a:ea typeface="Inter"/>
                <a:cs typeface="Inter"/>
                <a:sym typeface="Inter"/>
              </a:rPr>
              <a:t> ✦</a:t>
            </a:r>
            <a:endParaRPr b="1" sz="2800">
              <a:solidFill>
                <a:srgbClr val="FFD7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617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548640" y="6473952"/>
            <a:ext cx="45720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rPr>
              <a:t>copado-hx · CopadoCON Bangalore 2026</a:t>
            </a:r>
            <a:endParaRPr b="0" sz="900">
              <a:solidFill>
                <a:srgbClr val="6B6D8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5029200" y="6473952"/>
            <a:ext cx="27432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rPr>
              <a:t>● ○ ○ ○ ○ ○ ○</a:t>
            </a:r>
            <a:endParaRPr b="0" sz="800">
              <a:solidFill>
                <a:srgbClr val="00D2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11277314" y="6473952"/>
            <a:ext cx="7314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9140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sz="900">
              <a:solidFill>
                <a:srgbClr val="6B6D8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3"/>
          <p:cNvGrpSpPr/>
          <p:nvPr/>
        </p:nvGrpSpPr>
        <p:grpSpPr>
          <a:xfrm>
            <a:off x="-2857500" y="-1905000"/>
            <a:ext cx="17145000" cy="11620500"/>
            <a:chOff x="-2857500" y="-1905000"/>
            <a:chExt cx="17145000" cy="11620500"/>
          </a:xfrm>
        </p:grpSpPr>
        <p:sp>
          <p:nvSpPr>
            <p:cNvPr id="135" name="Google Shape;135;p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A1B2F">
                <a:alpha val="50196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6" name="Google Shape;13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3000" y="4572000"/>
              <a:ext cx="3810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3"/>
            <p:cNvSpPr/>
            <p:nvPr/>
          </p:nvSpPr>
          <p:spPr>
            <a:xfrm>
              <a:off x="8572500" y="-1905000"/>
              <a:ext cx="5715000" cy="5715000"/>
            </a:xfrm>
            <a:prstGeom prst="ellipse">
              <a:avLst/>
            </a:prstGeom>
            <a:solidFill>
              <a:srgbClr val="00D2FF">
                <a:alpha val="196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-2857500" y="2095500"/>
              <a:ext cx="7620000" cy="7620000"/>
            </a:xfrm>
            <a:prstGeom prst="ellipse">
              <a:avLst/>
            </a:prstGeom>
            <a:solidFill>
              <a:srgbClr val="7C3AED">
                <a:alpha val="196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3"/>
          <p:cNvSpPr/>
          <p:nvPr/>
        </p:nvSpPr>
        <p:spPr>
          <a:xfrm>
            <a:off x="0" y="0"/>
            <a:ext cx="73200" cy="68580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640080" y="411480"/>
            <a:ext cx="100584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copado-hx at a Glance</a:t>
            </a:r>
            <a:endParaRPr b="1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40080" y="1005840"/>
            <a:ext cx="100584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34 files · 14 command groups · 46 tests</a:t>
            </a:r>
            <a:endParaRPr b="0" i="0" sz="1800" u="none" cap="none" strike="noStrike">
              <a:solidFill>
                <a:srgbClr val="00D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0" y="6446520"/>
            <a:ext cx="12192000" cy="411600"/>
          </a:xfrm>
          <a:prstGeom prst="rect">
            <a:avLst/>
          </a:prstGeom>
          <a:solidFill>
            <a:srgbClr val="0A0B1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548640" y="6473952"/>
            <a:ext cx="45720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D82"/>
                </a:solidFill>
                <a:latin typeface="Calibri"/>
                <a:ea typeface="Calibri"/>
                <a:cs typeface="Calibri"/>
                <a:sym typeface="Calibri"/>
              </a:rPr>
              <a:t>copado-hx · CopadoCON Bangalore 2026</a:t>
            </a:r>
            <a:endParaRPr b="0" i="0" sz="900" u="none" cap="none" strike="noStrike">
              <a:solidFill>
                <a:srgbClr val="6B6D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5029200" y="6473952"/>
            <a:ext cx="27432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9BBF"/>
                </a:solidFill>
                <a:latin typeface="Calibri"/>
                <a:ea typeface="Calibri"/>
                <a:cs typeface="Calibri"/>
                <a:sym typeface="Calibri"/>
              </a:rPr>
              <a:t>● ● ○ ○ ○ ○ ○</a:t>
            </a:r>
            <a:endParaRPr b="0" i="0" sz="800" u="none" cap="none" strike="noStrike">
              <a:solidFill>
                <a:srgbClr val="009B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11277314" y="6473952"/>
            <a:ext cx="7314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D8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rgbClr val="6B6D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640080" y="1714500"/>
            <a:ext cx="1777500" cy="2381400"/>
          </a:xfrm>
          <a:prstGeom prst="roundRect">
            <a:avLst>
              <a:gd fmla="val 10718" name="adj"/>
            </a:avLst>
          </a:prstGeom>
          <a:solidFill>
            <a:srgbClr val="1F21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185863" y="1943100"/>
            <a:ext cx="685800" cy="68580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1B2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rgbClr val="1A1B2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2600" u="none" cap="none" strike="noStrike">
              <a:solidFill>
                <a:srgbClr val="1A1B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735330" y="2857500"/>
            <a:ext cx="1587000" cy="52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Command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Groups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2531745" y="1714500"/>
            <a:ext cx="1777500" cy="2381400"/>
          </a:xfrm>
          <a:prstGeom prst="roundRect">
            <a:avLst>
              <a:gd fmla="val 10718" name="adj"/>
            </a:avLst>
          </a:prstGeom>
          <a:solidFill>
            <a:srgbClr val="1F21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077528" y="1943100"/>
            <a:ext cx="685800" cy="68580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1" i="0" sz="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2626995" y="2857500"/>
            <a:ext cx="1587000" cy="52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4423410" y="1714500"/>
            <a:ext cx="1777500" cy="2381400"/>
          </a:xfrm>
          <a:prstGeom prst="roundRect">
            <a:avLst>
              <a:gd fmla="val 10718" name="adj"/>
            </a:avLst>
          </a:prstGeom>
          <a:solidFill>
            <a:srgbClr val="1F21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969193" y="1943100"/>
            <a:ext cx="685800" cy="685800"/>
          </a:xfrm>
          <a:prstGeom prst="ellipse">
            <a:avLst/>
          </a:prstGeom>
          <a:solidFill>
            <a:srgbClr val="50FA7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2600" u="none" cap="none" strike="noStrike">
              <a:solidFill>
                <a:srgbClr val="1A1B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4518660" y="2857500"/>
            <a:ext cx="1587000" cy="52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Surfaces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315075" y="1714500"/>
            <a:ext cx="1777500" cy="2381400"/>
          </a:xfrm>
          <a:prstGeom prst="roundRect">
            <a:avLst>
              <a:gd fmla="val 10718" name="adj"/>
            </a:avLst>
          </a:prstGeom>
          <a:solidFill>
            <a:srgbClr val="1F21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6860858" y="1943100"/>
            <a:ext cx="685800" cy="685800"/>
          </a:xfrm>
          <a:prstGeom prst="ellipse">
            <a:avLst/>
          </a:prstGeom>
          <a:solidFill>
            <a:srgbClr val="FFB86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1B2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2600" u="none" cap="none" strike="noStrike">
              <a:solidFill>
                <a:srgbClr val="1A1B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6410325" y="2857500"/>
            <a:ext cx="1587000" cy="52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Specialist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8206740" y="1714500"/>
            <a:ext cx="1777500" cy="2381400"/>
          </a:xfrm>
          <a:prstGeom prst="roundRect">
            <a:avLst>
              <a:gd fmla="val 10718" name="adj"/>
            </a:avLst>
          </a:prstGeom>
          <a:solidFill>
            <a:srgbClr val="1F21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8752523" y="19431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i="0" sz="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8301990" y="2857500"/>
            <a:ext cx="1587000" cy="52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Environments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10098405" y="1714500"/>
            <a:ext cx="1777500" cy="2381400"/>
          </a:xfrm>
          <a:prstGeom prst="roundRect">
            <a:avLst>
              <a:gd fmla="val 10718" name="adj"/>
            </a:avLst>
          </a:prstGeom>
          <a:solidFill>
            <a:srgbClr val="1F21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10644188" y="1943100"/>
            <a:ext cx="685800" cy="685800"/>
          </a:xfrm>
          <a:prstGeom prst="ellipse">
            <a:avLst/>
          </a:prstGeom>
          <a:solidFill>
            <a:srgbClr val="FFD7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A1B2F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b="1" i="0" sz="2600" u="none" cap="none" strike="noStrike">
              <a:solidFill>
                <a:srgbClr val="1A1B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10193655" y="2857500"/>
            <a:ext cx="1587000" cy="52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SKILL.md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Sections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571500" y="4381500"/>
            <a:ext cx="11049000" cy="145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0" lIns="190500" spcFirstLastPara="1" rIns="190500" wrap="square" tIns="190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700"/>
                </a:solidFill>
                <a:highlight>
                  <a:srgbClr val="1F2138"/>
                </a:highlight>
                <a:latin typeface="Calibri"/>
                <a:ea typeface="Calibri"/>
                <a:cs typeface="Calibri"/>
                <a:sym typeface="Calibri"/>
              </a:rPr>
              <a:t>✦ No browser tab opened during the entire demo ✦</a:t>
            </a:r>
            <a:endParaRPr b="1" i="0" sz="2400" u="none" cap="none" strike="noStrike">
              <a:solidFill>
                <a:srgbClr val="FFD700"/>
              </a:solidFill>
              <a:highlight>
                <a:srgbClr val="1F213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highlight>
                  <a:srgbClr val="1F2138"/>
                </a:highlight>
                <a:latin typeface="Calibri"/>
                <a:ea typeface="Calibri"/>
                <a:cs typeface="Calibri"/>
                <a:sym typeface="Calibri"/>
              </a:rPr>
              <a:t>Every command backed by real Copado API calls — no mock data, no fake output</a:t>
            </a:r>
            <a:endParaRPr b="0" i="0" sz="1600" u="none" cap="none" strike="noStrike">
              <a:solidFill>
                <a:srgbClr val="FFFFFF"/>
              </a:solidFill>
              <a:highlight>
                <a:srgbClr val="1F213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0A2BA"/>
                </a:solidFill>
                <a:highlight>
                  <a:srgbClr val="1F2138"/>
                </a:highlight>
                <a:latin typeface="Calibri"/>
                <a:ea typeface="Calibri"/>
                <a:cs typeface="Calibri"/>
                <a:sym typeface="Calibri"/>
              </a:rPr>
              <a:t>46 unit tests · pyflakes clean · single signed commit</a:t>
            </a:r>
            <a:endParaRPr b="0" i="0" sz="1400" u="none" cap="none" strike="noStrike">
              <a:solidFill>
                <a:srgbClr val="A0A2BA"/>
              </a:solidFill>
              <a:highlight>
                <a:srgbClr val="1F213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4"/>
          <p:cNvGrpSpPr/>
          <p:nvPr/>
        </p:nvGrpSpPr>
        <p:grpSpPr>
          <a:xfrm>
            <a:off x="-1619250" y="-2095500"/>
            <a:ext cx="15906750" cy="10572750"/>
            <a:chOff x="-1619250" y="-2095500"/>
            <a:chExt cx="15906750" cy="10572750"/>
          </a:xfrm>
        </p:grpSpPr>
        <p:sp>
          <p:nvSpPr>
            <p:cNvPr id="170" name="Google Shape;170;p4"/>
            <p:cNvSpPr/>
            <p:nvPr/>
          </p:nvSpPr>
          <p:spPr>
            <a:xfrm>
              <a:off x="8572500" y="-2095500"/>
              <a:ext cx="5715000" cy="5715000"/>
            </a:xfrm>
            <a:prstGeom prst="ellipse">
              <a:avLst/>
            </a:prstGeom>
            <a:solidFill>
              <a:srgbClr val="00D2FF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-1619250" y="3714750"/>
              <a:ext cx="4762500" cy="4762500"/>
            </a:xfrm>
            <a:prstGeom prst="ellipse">
              <a:avLst/>
            </a:prstGeom>
            <a:solidFill>
              <a:srgbClr val="7C3AED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4"/>
          <p:cNvSpPr txBox="1"/>
          <p:nvPr/>
        </p:nvSpPr>
        <p:spPr>
          <a:xfrm>
            <a:off x="571500" y="428625"/>
            <a:ext cx="1104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Architecture</a:t>
            </a:r>
            <a:endParaRPr b="0" sz="42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00D2FF"/>
                </a:solidFill>
                <a:latin typeface="Inter Light"/>
                <a:ea typeface="Inter Light"/>
                <a:cs typeface="Inter Light"/>
                <a:sym typeface="Inter Light"/>
              </a:rPr>
              <a:t>4 Copado API surfaces · 1 unified CLI · Any MCP-compatible agent</a:t>
            </a:r>
            <a:endParaRPr b="0" sz="2200">
              <a:solidFill>
                <a:srgbClr val="00D2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73" name="Google Shape;173;p4"/>
          <p:cNvGrpSpPr/>
          <p:nvPr/>
        </p:nvGrpSpPr>
        <p:grpSpPr>
          <a:xfrm>
            <a:off x="571500" y="1714500"/>
            <a:ext cx="11049000" cy="762000"/>
            <a:chOff x="571500" y="1714500"/>
            <a:chExt cx="11049000" cy="762000"/>
          </a:xfrm>
        </p:grpSpPr>
        <p:sp>
          <p:nvSpPr>
            <p:cNvPr id="174" name="Google Shape;174;p4"/>
            <p:cNvSpPr/>
            <p:nvPr/>
          </p:nvSpPr>
          <p:spPr>
            <a:xfrm>
              <a:off x="571500" y="1714500"/>
              <a:ext cx="11049000" cy="762000"/>
            </a:xfrm>
            <a:prstGeom prst="roundRect">
              <a:avLst>
                <a:gd fmla="val 15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809625" y="1714500"/>
              <a:ext cx="10572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copado-hx CLI</a:t>
              </a:r>
              <a:endParaRPr b="1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C0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auth · story list/show/set/create · commit · promote · deploy · validate · status · workflow list/run · test list/run/status/results · ai ask/chat · environments · mcp · config . version</a:t>
              </a:r>
              <a:r>
                <a:rPr lang="en-US" sz="1000">
                  <a:solidFill>
                    <a:srgbClr val="C0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. </a:t>
              </a:r>
              <a:r>
                <a:rPr b="0" lang="en-US" sz="1000">
                  <a:solidFill>
                    <a:srgbClr val="C0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demo</a:t>
              </a:r>
              <a:r>
                <a:rPr lang="en-US" sz="1000">
                  <a:solidFill>
                    <a:srgbClr val="C0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.</a:t>
              </a:r>
              <a:r>
                <a:rPr b="0" lang="en-US" sz="1000">
                  <a:solidFill>
                    <a:srgbClr val="C0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auth . login/status/logout</a:t>
              </a:r>
              <a:r>
                <a:rPr lang="en-US" sz="1000">
                  <a:solidFill>
                    <a:srgbClr val="C0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.</a:t>
              </a:r>
              <a:r>
                <a:rPr b="0" lang="en-US" sz="1000">
                  <a:solidFill>
                    <a:srgbClr val="C0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ai triage</a:t>
              </a:r>
              <a:r>
                <a:rPr lang="en-US" sz="1000">
                  <a:solidFill>
                    <a:srgbClr val="C0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. </a:t>
              </a:r>
              <a:r>
                <a:rPr b="0" lang="en-US" sz="1000">
                  <a:solidFill>
                    <a:srgbClr val="C0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env list</a:t>
              </a:r>
              <a:endParaRPr b="0" sz="1000">
                <a:solidFill>
                  <a:srgbClr val="C0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76" name="Google Shape;176;p4"/>
          <p:cNvGrpSpPr/>
          <p:nvPr/>
        </p:nvGrpSpPr>
        <p:grpSpPr>
          <a:xfrm>
            <a:off x="571500" y="2667000"/>
            <a:ext cx="11049000" cy="1714500"/>
            <a:chOff x="571500" y="2667000"/>
            <a:chExt cx="11049000" cy="1714500"/>
          </a:xfrm>
        </p:grpSpPr>
        <p:sp>
          <p:nvSpPr>
            <p:cNvPr id="177" name="Google Shape;177;p4"/>
            <p:cNvSpPr/>
            <p:nvPr/>
          </p:nvSpPr>
          <p:spPr>
            <a:xfrm>
              <a:off x="571500" y="2667000"/>
              <a:ext cx="2057400" cy="1714500"/>
            </a:xfrm>
            <a:prstGeom prst="roundRect">
              <a:avLst>
                <a:gd fmla="val 6666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 txBox="1"/>
            <p:nvPr/>
          </p:nvSpPr>
          <p:spPr>
            <a:xfrm>
              <a:off x="714375" y="2809875"/>
              <a:ext cx="1771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Actions API</a:t>
              </a:r>
              <a:endParaRPr b="1" sz="13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CI/CD Pipeline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RunJobTemplate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3 Job Templates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2819400" y="2667000"/>
              <a:ext cx="2057400" cy="1714500"/>
            </a:xfrm>
            <a:prstGeom prst="roundRect">
              <a:avLst>
                <a:gd fmla="val 6666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 txBox="1"/>
            <p:nvPr/>
          </p:nvSpPr>
          <p:spPr>
            <a:xfrm>
              <a:off x="2962275" y="2809875"/>
              <a:ext cx="1771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SF REST API</a:t>
              </a:r>
              <a:endParaRPr b="1" sz="13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User Stories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Environments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Job Status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5067300" y="2667000"/>
              <a:ext cx="2057400" cy="1714500"/>
            </a:xfrm>
            <a:prstGeom prst="roundRect">
              <a:avLst>
                <a:gd fmla="val 6666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 txBox="1"/>
            <p:nvPr/>
          </p:nvSpPr>
          <p:spPr>
            <a:xfrm>
              <a:off x="5210175" y="2809875"/>
              <a:ext cx="1771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50FA7B"/>
                  </a:solidFill>
                  <a:latin typeface="Inter"/>
                  <a:ea typeface="Inter"/>
                  <a:cs typeface="Inter"/>
                  <a:sym typeface="Inter"/>
                </a:rPr>
                <a:t>AI Platform</a:t>
              </a:r>
              <a:endParaRPr b="1" sz="1300">
                <a:solidFill>
                  <a:srgbClr val="50FA7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Workflow List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Workflow Run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7315200" y="2667000"/>
              <a:ext cx="2057400" cy="1714500"/>
            </a:xfrm>
            <a:prstGeom prst="roundRect">
              <a:avLst>
                <a:gd fmla="val 6666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 txBox="1"/>
            <p:nvPr/>
          </p:nvSpPr>
          <p:spPr>
            <a:xfrm>
              <a:off x="7458075" y="2809875"/>
              <a:ext cx="1771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B86C"/>
                  </a:solidFill>
                  <a:latin typeface="Inter"/>
                  <a:ea typeface="Inter"/>
                  <a:cs typeface="Inter"/>
                  <a:sym typeface="Inter"/>
                </a:rPr>
                <a:t>CRT API</a:t>
              </a:r>
              <a:endParaRPr b="1" sz="1300">
                <a:solidFill>
                  <a:srgbClr val="FFB86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Test Jobs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Build Trigger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Results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9563100" y="2667000"/>
              <a:ext cx="2057400" cy="1714500"/>
            </a:xfrm>
            <a:prstGeom prst="roundRect">
              <a:avLst>
                <a:gd fmla="val 6666" name="adj"/>
              </a:avLst>
            </a:prstGeom>
            <a:solidFill>
              <a:srgbClr val="1F213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 txBox="1"/>
            <p:nvPr/>
          </p:nvSpPr>
          <p:spPr>
            <a:xfrm>
              <a:off x="9705975" y="2809875"/>
              <a:ext cx="1771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6B6B"/>
                  </a:solidFill>
                  <a:latin typeface="Inter"/>
                  <a:ea typeface="Inter"/>
                  <a:cs typeface="Inter"/>
                  <a:sym typeface="Inter"/>
                </a:rPr>
                <a:t>Context Hub</a:t>
              </a:r>
              <a:endParaRPr b="1" sz="1300">
                <a:solidFill>
                  <a:srgbClr val="FF6B6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AI Agents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Plan/Build/Test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Release/Operate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7" name="Google Shape;187;p4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617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p4"/>
          <p:cNvGrpSpPr/>
          <p:nvPr/>
        </p:nvGrpSpPr>
        <p:grpSpPr>
          <a:xfrm>
            <a:off x="571500" y="4572000"/>
            <a:ext cx="11049150" cy="1143000"/>
            <a:chOff x="571500" y="4572000"/>
            <a:chExt cx="11049150" cy="1143000"/>
          </a:xfrm>
        </p:grpSpPr>
        <p:sp>
          <p:nvSpPr>
            <p:cNvPr id="189" name="Google Shape;189;p4"/>
            <p:cNvSpPr/>
            <p:nvPr/>
          </p:nvSpPr>
          <p:spPr>
            <a:xfrm>
              <a:off x="571500" y="4572000"/>
              <a:ext cx="5429400" cy="1143000"/>
            </a:xfrm>
            <a:prstGeom prst="roundRect">
              <a:avLst>
                <a:gd fmla="val 10000" name="adj"/>
              </a:avLst>
            </a:prstGeom>
            <a:solidFill>
              <a:srgbClr val="23253D"/>
            </a:solidFill>
            <a:ln cap="flat" cmpd="sng" w="95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762000" y="4572000"/>
              <a:ext cx="504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MCP Server</a:t>
              </a:r>
              <a:endParaRPr b="1" sz="15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25</a:t>
              </a: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 FastMCP tools — any MCP-compatible agent (Claude Code, Cursor, VS Code) discovers natively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6191250" y="4572000"/>
              <a:ext cx="5429400" cy="1143000"/>
            </a:xfrm>
            <a:prstGeom prst="roundRect">
              <a:avLst>
                <a:gd fmla="val 10000" name="adj"/>
              </a:avLst>
            </a:prstGeom>
            <a:solidFill>
              <a:srgbClr val="23253D"/>
            </a:solidFill>
            <a:ln cap="flat" cmpd="sng" w="9525">
              <a:solidFill>
                <a:srgbClr val="50FA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 txBox="1"/>
            <p:nvPr/>
          </p:nvSpPr>
          <p:spPr>
            <a:xfrm>
              <a:off x="6381750" y="4572000"/>
              <a:ext cx="5048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50FA7B"/>
                  </a:solidFill>
                  <a:latin typeface="Inter"/>
                  <a:ea typeface="Inter"/>
                  <a:cs typeface="Inter"/>
                  <a:sym typeface="Inter"/>
                </a:rPr>
                <a:t>SKILL.md</a:t>
              </a:r>
              <a:endParaRPr b="1" sz="1500">
                <a:solidFill>
                  <a:srgbClr val="50FA7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29 sections, 5 playbooks, 9 guardrails — any AI assistant loads full operational context</a:t>
              </a:r>
              <a:endParaRPr b="0" sz="11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3" name="Google Shape;193;p4"/>
          <p:cNvSpPr txBox="1"/>
          <p:nvPr/>
        </p:nvSpPr>
        <p:spPr>
          <a:xfrm>
            <a:off x="548640" y="6473952"/>
            <a:ext cx="45720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rPr>
              <a:t>copado-hx · CopadoCON Bangalore 2026</a:t>
            </a:r>
            <a:endParaRPr b="0" i="0" sz="900">
              <a:solidFill>
                <a:srgbClr val="6B6D8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5029200" y="6473952"/>
            <a:ext cx="27432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rPr>
              <a:t>● ● ● ○ ○ ○ ○</a:t>
            </a:r>
            <a:endParaRPr b="0" i="0" sz="800">
              <a:solidFill>
                <a:srgbClr val="00D2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11277314" y="6473952"/>
            <a:ext cx="7314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525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00">
              <a:solidFill>
                <a:srgbClr val="6B6D8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5"/>
          <p:cNvGrpSpPr/>
          <p:nvPr/>
        </p:nvGrpSpPr>
        <p:grpSpPr>
          <a:xfrm>
            <a:off x="638175" y="409575"/>
            <a:ext cx="10058400" cy="1009650"/>
            <a:chOff x="638175" y="409575"/>
            <a:chExt cx="10058400" cy="1009650"/>
          </a:xfrm>
        </p:grpSpPr>
        <p:sp>
          <p:nvSpPr>
            <p:cNvPr id="201" name="Google Shape;201;p5"/>
            <p:cNvSpPr txBox="1"/>
            <p:nvPr/>
          </p:nvSpPr>
          <p:spPr>
            <a:xfrm>
              <a:off x="638175" y="409575"/>
              <a:ext cx="10058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CI/CD Pipeline </a:t>
              </a:r>
              <a:r>
                <a:rPr b="0" lang="en-US" sz="3600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+</a:t>
              </a:r>
              <a:r>
                <a:rPr b="0" lang="en-US" sz="3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Robotic Testing</a:t>
              </a:r>
              <a:endParaRPr b="0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02" name="Google Shape;202;p5"/>
            <p:cNvSpPr txBox="1"/>
            <p:nvPr/>
          </p:nvSpPr>
          <p:spPr>
            <a:xfrm>
              <a:off x="638175" y="1000125"/>
              <a:ext cx="1005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Actions API for delivery · CRT API for quality</a:t>
              </a:r>
              <a:endParaRPr b="0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638175" y="1381125"/>
              <a:ext cx="1905000" cy="38100"/>
            </a:xfrm>
            <a:prstGeom prst="rect">
              <a:avLst/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" name="Google Shape;204;p5"/>
          <p:cNvGrpSpPr/>
          <p:nvPr/>
        </p:nvGrpSpPr>
        <p:grpSpPr>
          <a:xfrm>
            <a:off x="571500" y="1714500"/>
            <a:ext cx="5334000" cy="4381500"/>
            <a:chOff x="571500" y="1714500"/>
            <a:chExt cx="5334000" cy="4381500"/>
          </a:xfrm>
        </p:grpSpPr>
        <p:sp>
          <p:nvSpPr>
            <p:cNvPr id="205" name="Google Shape;205;p5"/>
            <p:cNvSpPr/>
            <p:nvPr/>
          </p:nvSpPr>
          <p:spPr>
            <a:xfrm>
              <a:off x="571500" y="1714500"/>
              <a:ext cx="5334000" cy="4381500"/>
            </a:xfrm>
            <a:prstGeom prst="roundRect">
              <a:avLst>
                <a:gd fmla="val 4347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5"/>
            <p:cNvSpPr txBox="1"/>
            <p:nvPr/>
          </p:nvSpPr>
          <p:spPr>
            <a:xfrm>
              <a:off x="857250" y="190500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Copado Actions API</a:t>
              </a:r>
              <a:endParaRPr b="1" sz="18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857250" y="2333625"/>
              <a:ext cx="4762500" cy="2857500"/>
            </a:xfrm>
            <a:prstGeom prst="roundRect">
              <a:avLst>
                <a:gd fmla="val 4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5"/>
            <p:cNvSpPr txBox="1"/>
            <p:nvPr/>
          </p:nvSpPr>
          <p:spPr>
            <a:xfrm>
              <a:off x="952500" y="2428875"/>
              <a:ext cx="4572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0FA7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copado-hx story set a1vhk000...P01AAE</a:t>
              </a:r>
              <a:endParaRPr sz="1000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OK Working context set to: US-0000024</a:t>
              </a:r>
              <a:endPara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0FA7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copado-hx commit -m "feat: lead scoring"</a:t>
              </a:r>
              <a:endParaRPr sz="1000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OK Commit triggered: JE=a0shk0000...WqPAAU</a:t>
              </a:r>
              <a:endPara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0FA7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copado-hx promote --env UAT-SFP --validate</a:t>
              </a:r>
              <a:endParaRPr sz="1000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OK Promotion to UAT-SFP triggered</a:t>
              </a:r>
              <a:endPara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OK Job execution: a0shk0000...Yg1AAE</a:t>
              </a:r>
              <a:endPara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0FA7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copado-hx deploy --env PROD</a:t>
              </a:r>
              <a:endParaRPr sz="1000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B86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[?] You are about to deploy to PRODUCTION. Continue? [y/N]:</a:t>
              </a:r>
              <a:endParaRPr sz="1000">
                <a:solidFill>
                  <a:srgbClr val="FFB86C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6B6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Deployment cancelled</a:t>
              </a:r>
              <a:endParaRPr sz="1000">
                <a:solidFill>
                  <a:srgbClr val="FF6B6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095375" y="5429250"/>
              <a:ext cx="4286400" cy="381000"/>
            </a:xfrm>
            <a:prstGeom prst="roundRect">
              <a:avLst>
                <a:gd fmla="val 50000" name="adj"/>
              </a:avLst>
            </a:prstGeom>
            <a:solidFill>
              <a:srgbClr val="EF4444">
                <a:alpha val="15000"/>
              </a:srgbClr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5"/>
            <p:cNvSpPr txBox="1"/>
            <p:nvPr/>
          </p:nvSpPr>
          <p:spPr>
            <a:xfrm>
              <a:off x="1095375" y="5429250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rPr>
                <a:t>⚠ Human approval gate for PROD deployments</a:t>
              </a:r>
              <a:endParaRPr b="1" sz="11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1" name="Google Shape;211;p5"/>
          <p:cNvGrpSpPr/>
          <p:nvPr/>
        </p:nvGrpSpPr>
        <p:grpSpPr>
          <a:xfrm>
            <a:off x="6286500" y="1714500"/>
            <a:ext cx="5334000" cy="4381500"/>
            <a:chOff x="6286500" y="1714500"/>
            <a:chExt cx="5334000" cy="4381500"/>
          </a:xfrm>
        </p:grpSpPr>
        <p:sp>
          <p:nvSpPr>
            <p:cNvPr id="212" name="Google Shape;212;p5"/>
            <p:cNvSpPr/>
            <p:nvPr/>
          </p:nvSpPr>
          <p:spPr>
            <a:xfrm>
              <a:off x="6286500" y="1714500"/>
              <a:ext cx="5334000" cy="4381500"/>
            </a:xfrm>
            <a:prstGeom prst="roundRect">
              <a:avLst>
                <a:gd fmla="val 4347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5"/>
            <p:cNvSpPr txBox="1"/>
            <p:nvPr/>
          </p:nvSpPr>
          <p:spPr>
            <a:xfrm>
              <a:off x="6572250" y="190500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B86C"/>
                  </a:solidFill>
                  <a:latin typeface="Inter"/>
                  <a:ea typeface="Inter"/>
                  <a:cs typeface="Inter"/>
                  <a:sym typeface="Inter"/>
                </a:rPr>
                <a:t>Copado Robotic Testing (CRT)</a:t>
              </a:r>
              <a:endParaRPr b="1" sz="1800">
                <a:solidFill>
                  <a:srgbClr val="FFB86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6572250" y="2333625"/>
              <a:ext cx="4762500" cy="2857500"/>
            </a:xfrm>
            <a:prstGeom prst="roundRect">
              <a:avLst>
                <a:gd fmla="val 4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 txBox="1"/>
            <p:nvPr/>
          </p:nvSpPr>
          <p:spPr>
            <a:xfrm>
              <a:off x="6667500" y="2428875"/>
              <a:ext cx="4572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0FA7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copado-hx test list</a:t>
              </a:r>
              <a:endParaRPr sz="1000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╭────────┬────────────────╮</a:t>
              </a:r>
              <a:endPara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│ Job ID │ Name │</a:t>
              </a:r>
              <a:endParaRPr sz="10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├────────┼────────────────┤</a:t>
              </a:r>
              <a:endPara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│ 120561 │ CLI-Target-Job │</a:t>
              </a:r>
              <a:endParaRPr sz="10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╰────────┴────────────────╯</a:t>
              </a:r>
              <a:endPara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0FA7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copado-hx test run --job 120561</a:t>
              </a:r>
              <a:endParaRPr sz="1000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OK Test execution triggered</a:t>
              </a:r>
              <a:endPara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OK Execution ID: 5247552</a:t>
              </a:r>
              <a:endPara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0FA7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copado-hx test status --execution 5247552 --watch</a:t>
              </a:r>
              <a:endParaRPr sz="1000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B86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→ Polling... Status: In Progress</a:t>
              </a:r>
              <a:endParaRPr sz="1000">
                <a:solidFill>
                  <a:srgbClr val="FFB86C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→ Polling... Status: Succeeded</a:t>
              </a:r>
              <a:endParaRPr sz="10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16" name="Google Shape;216;p5"/>
            <p:cNvSpPr txBox="1"/>
            <p:nvPr/>
          </p:nvSpPr>
          <p:spPr>
            <a:xfrm>
              <a:off x="6572250" y="54292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JUnit results · PDF reports · Live polling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17" name="Google Shape;217;p5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617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548640" y="6473952"/>
            <a:ext cx="457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D82"/>
                </a:solidFill>
                <a:latin typeface="Calibri"/>
                <a:ea typeface="Calibri"/>
                <a:cs typeface="Calibri"/>
                <a:sym typeface="Calibri"/>
              </a:rPr>
              <a:t>copado-hx  ·  CopadoCON Bangalore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5029200" y="6473952"/>
            <a:ext cx="274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9BBF"/>
                </a:solidFill>
                <a:latin typeface="Calibri"/>
                <a:ea typeface="Calibri"/>
                <a:cs typeface="Calibri"/>
                <a:sym typeface="Calibri"/>
              </a:rPr>
              <a:t>●  ●  ●  ●  ○  ○  ○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11277295" y="6473952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D8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6"/>
          <p:cNvGrpSpPr/>
          <p:nvPr/>
        </p:nvGrpSpPr>
        <p:grpSpPr>
          <a:xfrm>
            <a:off x="571500" y="381000"/>
            <a:ext cx="11049000" cy="1038225"/>
            <a:chOff x="571500" y="381000"/>
            <a:chExt cx="11049000" cy="1038225"/>
          </a:xfrm>
        </p:grpSpPr>
        <p:sp>
          <p:nvSpPr>
            <p:cNvPr id="226" name="Google Shape;226;p6"/>
            <p:cNvSpPr txBox="1"/>
            <p:nvPr/>
          </p:nvSpPr>
          <p:spPr>
            <a:xfrm>
              <a:off x="571500" y="381000"/>
              <a:ext cx="1104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7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AI Agents + MCP Server</a:t>
              </a:r>
              <a:endParaRPr b="1" sz="37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850">
                  <a:solidFill>
                    <a:srgbClr val="00D2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Copado Context Hub · Agentic tool discovery</a:t>
              </a:r>
              <a:endParaRPr b="0" sz="1850">
                <a:solidFill>
                  <a:srgbClr val="00D2FF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571500" y="13811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" name="Google Shape;228;p6"/>
          <p:cNvGrpSpPr/>
          <p:nvPr/>
        </p:nvGrpSpPr>
        <p:grpSpPr>
          <a:xfrm>
            <a:off x="571500" y="1619250"/>
            <a:ext cx="11049000" cy="952500"/>
            <a:chOff x="571500" y="1619250"/>
            <a:chExt cx="11049000" cy="952500"/>
          </a:xfrm>
        </p:grpSpPr>
        <p:sp>
          <p:nvSpPr>
            <p:cNvPr id="229" name="Google Shape;229;p6"/>
            <p:cNvSpPr/>
            <p:nvPr/>
          </p:nvSpPr>
          <p:spPr>
            <a:xfrm>
              <a:off x="571500" y="1619250"/>
              <a:ext cx="11049000" cy="952500"/>
            </a:xfrm>
            <a:prstGeom prst="roundRect">
              <a:avLst>
                <a:gd fmla="val 16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0" name="Google Shape;230;p6"/>
            <p:cNvGrpSpPr/>
            <p:nvPr/>
          </p:nvGrpSpPr>
          <p:grpSpPr>
            <a:xfrm>
              <a:off x="952500" y="1762125"/>
              <a:ext cx="1857375" cy="666900"/>
              <a:chOff x="0" y="0"/>
              <a:chExt cx="1857375" cy="666900"/>
            </a:xfrm>
          </p:grpSpPr>
          <p:sp>
            <p:nvSpPr>
              <p:cNvPr id="231" name="Google Shape;231;p6"/>
              <p:cNvSpPr/>
              <p:nvPr/>
            </p:nvSpPr>
            <p:spPr>
              <a:xfrm>
                <a:off x="47625" y="47625"/>
                <a:ext cx="571500" cy="5715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6"/>
              <p:cNvSpPr txBox="1"/>
              <p:nvPr/>
            </p:nvSpPr>
            <p:spPr>
              <a:xfrm>
                <a:off x="0" y="0"/>
                <a:ext cx="666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</a:t>
                </a:r>
                <a:endParaRPr b="1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714375" y="9525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60A5FA"/>
                    </a:solidFill>
                    <a:latin typeface="Inter"/>
                    <a:ea typeface="Inter"/>
                    <a:cs typeface="Inter"/>
                    <a:sym typeface="Inter"/>
                  </a:rPr>
                  <a:t>Plan</a:t>
                </a:r>
                <a:endParaRPr b="1" sz="1200">
                  <a:solidFill>
                    <a:srgbClr val="60A5F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Story &amp; Scope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4" name="Google Shape;234;p6"/>
            <p:cNvGrpSpPr/>
            <p:nvPr/>
          </p:nvGrpSpPr>
          <p:grpSpPr>
            <a:xfrm>
              <a:off x="3143250" y="1762125"/>
              <a:ext cx="1857375" cy="666900"/>
              <a:chOff x="0" y="0"/>
              <a:chExt cx="1857375" cy="666900"/>
            </a:xfrm>
          </p:grpSpPr>
          <p:sp>
            <p:nvSpPr>
              <p:cNvPr id="235" name="Google Shape;235;p6"/>
              <p:cNvSpPr/>
              <p:nvPr/>
            </p:nvSpPr>
            <p:spPr>
              <a:xfrm>
                <a:off x="47625" y="47625"/>
                <a:ext cx="571500" cy="5715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 txBox="1"/>
              <p:nvPr/>
            </p:nvSpPr>
            <p:spPr>
              <a:xfrm>
                <a:off x="0" y="0"/>
                <a:ext cx="666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" name="Google Shape;237;p6"/>
              <p:cNvSpPr txBox="1"/>
              <p:nvPr/>
            </p:nvSpPr>
            <p:spPr>
              <a:xfrm>
                <a:off x="714375" y="9525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34D399"/>
                    </a:solidFill>
                    <a:latin typeface="Inter"/>
                    <a:ea typeface="Inter"/>
                    <a:cs typeface="Inter"/>
                    <a:sym typeface="Inter"/>
                  </a:rPr>
                  <a:t>Build</a:t>
                </a:r>
                <a:endParaRPr b="1" sz="12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Apex Gen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8" name="Google Shape;238;p6"/>
            <p:cNvGrpSpPr/>
            <p:nvPr/>
          </p:nvGrpSpPr>
          <p:grpSpPr>
            <a:xfrm>
              <a:off x="5334000" y="1762125"/>
              <a:ext cx="1857375" cy="666900"/>
              <a:chOff x="0" y="0"/>
              <a:chExt cx="1857375" cy="666900"/>
            </a:xfrm>
          </p:grpSpPr>
          <p:sp>
            <p:nvSpPr>
              <p:cNvPr id="239" name="Google Shape;239;p6"/>
              <p:cNvSpPr/>
              <p:nvPr/>
            </p:nvSpPr>
            <p:spPr>
              <a:xfrm>
                <a:off x="47625" y="47625"/>
                <a:ext cx="571500" cy="5715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6"/>
              <p:cNvSpPr txBox="1"/>
              <p:nvPr/>
            </p:nvSpPr>
            <p:spPr>
              <a:xfrm>
                <a:off x="0" y="0"/>
                <a:ext cx="666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T</a:t>
                </a:r>
                <a:endParaRPr b="1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6"/>
              <p:cNvSpPr txBox="1"/>
              <p:nvPr/>
            </p:nvSpPr>
            <p:spPr>
              <a:xfrm>
                <a:off x="714375" y="9525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BBF24"/>
                    </a:solidFill>
                    <a:latin typeface="Inter"/>
                    <a:ea typeface="Inter"/>
                    <a:cs typeface="Inter"/>
                    <a:sym typeface="Inter"/>
                  </a:rPr>
                  <a:t>Test</a:t>
                </a:r>
                <a:endParaRPr b="1" sz="1200">
                  <a:solidFill>
                    <a:srgbClr val="FBBF2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Scripts &amp; Cov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2" name="Google Shape;242;p6"/>
            <p:cNvGrpSpPr/>
            <p:nvPr/>
          </p:nvGrpSpPr>
          <p:grpSpPr>
            <a:xfrm>
              <a:off x="7524750" y="1762125"/>
              <a:ext cx="1857375" cy="666900"/>
              <a:chOff x="0" y="0"/>
              <a:chExt cx="1857375" cy="666900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47625" y="47625"/>
                <a:ext cx="571500" cy="5715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 txBox="1"/>
              <p:nvPr/>
            </p:nvSpPr>
            <p:spPr>
              <a:xfrm>
                <a:off x="0" y="0"/>
                <a:ext cx="666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R</a:t>
                </a:r>
                <a:endParaRPr b="1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6"/>
              <p:cNvSpPr txBox="1"/>
              <p:nvPr/>
            </p:nvSpPr>
            <p:spPr>
              <a:xfrm>
                <a:off x="714375" y="9525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87171"/>
                    </a:solidFill>
                    <a:latin typeface="Inter"/>
                    <a:ea typeface="Inter"/>
                    <a:cs typeface="Inter"/>
                    <a:sym typeface="Inter"/>
                  </a:rPr>
                  <a:t>Release</a:t>
                </a:r>
                <a:endParaRPr b="1" sz="12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Coordination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6" name="Google Shape;246;p6"/>
            <p:cNvGrpSpPr/>
            <p:nvPr/>
          </p:nvGrpSpPr>
          <p:grpSpPr>
            <a:xfrm>
              <a:off x="9715500" y="1762125"/>
              <a:ext cx="1857375" cy="666900"/>
              <a:chOff x="0" y="0"/>
              <a:chExt cx="1857375" cy="66690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47625" y="47625"/>
                <a:ext cx="571500" cy="571500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 txBox="1"/>
              <p:nvPr/>
            </p:nvSpPr>
            <p:spPr>
              <a:xfrm>
                <a:off x="0" y="0"/>
                <a:ext cx="666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O</a:t>
                </a:r>
                <a:endParaRPr b="1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" name="Google Shape;249;p6"/>
              <p:cNvSpPr txBox="1"/>
              <p:nvPr/>
            </p:nvSpPr>
            <p:spPr>
              <a:xfrm>
                <a:off x="714375" y="9525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A78BFA"/>
                    </a:solidFill>
                    <a:latin typeface="Inter"/>
                    <a:ea typeface="Inter"/>
                    <a:cs typeface="Inter"/>
                    <a:sym typeface="Inter"/>
                  </a:rPr>
                  <a:t>Operate</a:t>
                </a:r>
                <a:endParaRPr b="1" sz="1200">
                  <a:solidFill>
                    <a:srgbClr val="A78BF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Change Mgmt</a:t>
                </a:r>
                <a:endParaRPr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50" name="Google Shape;250;p6"/>
          <p:cNvGrpSpPr/>
          <p:nvPr/>
        </p:nvGrpSpPr>
        <p:grpSpPr>
          <a:xfrm>
            <a:off x="571500" y="2762250"/>
            <a:ext cx="11049150" cy="3429000"/>
            <a:chOff x="571500" y="2762250"/>
            <a:chExt cx="11049150" cy="3429000"/>
          </a:xfrm>
        </p:grpSpPr>
        <p:grpSp>
          <p:nvGrpSpPr>
            <p:cNvPr id="251" name="Google Shape;251;p6"/>
            <p:cNvGrpSpPr/>
            <p:nvPr/>
          </p:nvGrpSpPr>
          <p:grpSpPr>
            <a:xfrm>
              <a:off x="571500" y="2762250"/>
              <a:ext cx="5429400" cy="3429000"/>
              <a:chOff x="0" y="0"/>
              <a:chExt cx="5429400" cy="3429000"/>
            </a:xfrm>
          </p:grpSpPr>
          <p:sp>
            <p:nvSpPr>
              <p:cNvPr id="252" name="Google Shape;252;p6"/>
              <p:cNvSpPr/>
              <p:nvPr/>
            </p:nvSpPr>
            <p:spPr>
              <a:xfrm>
                <a:off x="0" y="0"/>
                <a:ext cx="5429400" cy="3429000"/>
              </a:xfrm>
              <a:prstGeom prst="roundRect">
                <a:avLst>
                  <a:gd fmla="val 4444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6"/>
              <p:cNvSpPr txBox="1"/>
              <p:nvPr/>
            </p:nvSpPr>
            <p:spPr>
              <a:xfrm>
                <a:off x="190500" y="142875"/>
                <a:ext cx="5048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10B981"/>
                    </a:solidFill>
                    <a:latin typeface="Inter"/>
                    <a:ea typeface="Inter"/>
                    <a:cs typeface="Inter"/>
                    <a:sym typeface="Inter"/>
                  </a:rPr>
                  <a:t>Build Agent: Lead Scoring Architecture</a:t>
                </a:r>
                <a:endParaRPr b="1" sz="14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" name="Google Shape;254;p6"/>
              <p:cNvSpPr/>
              <p:nvPr/>
            </p:nvSpPr>
            <p:spPr>
              <a:xfrm>
                <a:off x="190500" y="523875"/>
                <a:ext cx="5048400" cy="2714700"/>
              </a:xfrm>
              <a:prstGeom prst="roundRect">
                <a:avLst>
                  <a:gd fmla="val 421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 txBox="1"/>
              <p:nvPr/>
            </p:nvSpPr>
            <p:spPr>
              <a:xfrm>
                <a:off x="285750" y="619125"/>
                <a:ext cx="4857900" cy="252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10B981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$ copado-hx ai ask --agent build "Lead scoring Apex?"</a:t>
                </a:r>
                <a:endParaRPr sz="1050">
                  <a:solidFill>
                    <a:srgbClr val="10B981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60A5F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[Build Agent] Searching Lead metadata...</a:t>
                </a:r>
                <a:endParaRPr sz="1050">
                  <a:solidFill>
                    <a:srgbClr val="60A5F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60A5F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No existing Apex found. Strategy:</a:t>
                </a:r>
                <a:endParaRPr sz="1050">
                  <a:solidFill>
                    <a:srgbClr val="60A5F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-295275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F9FAFB"/>
                  </a:buClr>
                  <a:buSzPts val="1050"/>
                  <a:buFont typeface="JetBrains Mono"/>
                  <a:buChar char="●"/>
                </a:pPr>
                <a:r>
                  <a:rPr lang="en-US" sz="1050">
                    <a:solidFill>
                      <a:srgbClr val="F9FAF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LeadScoringEngine.cls — logic</a:t>
                </a:r>
                <a:endParaRPr sz="1050">
                  <a:solidFill>
                    <a:srgbClr val="F9FAFB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F9FAFB"/>
                  </a:buClr>
                  <a:buSzPts val="1050"/>
                  <a:buFont typeface="JetBrains Mono"/>
                  <a:buChar char="●"/>
                </a:pPr>
                <a:r>
                  <a:rPr lang="en-US" sz="1050">
                    <a:solidFill>
                      <a:srgbClr val="F9FAF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LeadTrigger.trigger — events</a:t>
                </a:r>
                <a:endParaRPr sz="1050">
                  <a:solidFill>
                    <a:srgbClr val="F9FAFB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F9FAFB"/>
                  </a:buClr>
                  <a:buSzPts val="1050"/>
                  <a:buFont typeface="JetBrains Mono"/>
                  <a:buChar char="●"/>
                </a:pPr>
                <a:r>
                  <a:rPr lang="en-US" sz="1050">
                    <a:solidFill>
                      <a:srgbClr val="F9FAF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LeadTriggerHandler.cls — pattern</a:t>
                </a:r>
                <a:endParaRPr sz="1050">
                  <a:solidFill>
                    <a:srgbClr val="F9FAFB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F9FAFB"/>
                  </a:buClr>
                  <a:buSzPts val="1050"/>
                  <a:buFont typeface="JetBrains Mono"/>
                  <a:buChar char="●"/>
                </a:pPr>
                <a:r>
                  <a:rPr lang="en-US" sz="1050">
                    <a:solidFill>
                      <a:srgbClr val="F9FAF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LeadScoringBatch.cls — bulk</a:t>
                </a:r>
                <a:endParaRPr sz="1050">
                  <a:solidFill>
                    <a:srgbClr val="F9FAFB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F9FAFB"/>
                  </a:buClr>
                  <a:buSzPts val="1050"/>
                  <a:buFont typeface="JetBrains Mono"/>
                  <a:buChar char="●"/>
                </a:pPr>
                <a:r>
                  <a:rPr lang="en-US" sz="1050">
                    <a:solidFill>
                      <a:srgbClr val="F9FAF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test classes — &gt;75% coverage</a:t>
                </a:r>
                <a:endParaRPr sz="1050">
                  <a:solidFill>
                    <a:srgbClr val="F9FAFB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grpSp>
          <p:nvGrpSpPr>
            <p:cNvPr id="256" name="Google Shape;256;p6"/>
            <p:cNvGrpSpPr/>
            <p:nvPr/>
          </p:nvGrpSpPr>
          <p:grpSpPr>
            <a:xfrm>
              <a:off x="6191250" y="2762250"/>
              <a:ext cx="5429400" cy="3429000"/>
              <a:chOff x="0" y="0"/>
              <a:chExt cx="5429400" cy="3429000"/>
            </a:xfrm>
          </p:grpSpPr>
          <p:sp>
            <p:nvSpPr>
              <p:cNvPr id="257" name="Google Shape;257;p6"/>
              <p:cNvSpPr/>
              <p:nvPr/>
            </p:nvSpPr>
            <p:spPr>
              <a:xfrm>
                <a:off x="0" y="0"/>
                <a:ext cx="5429400" cy="3429000"/>
              </a:xfrm>
              <a:prstGeom prst="roundRect">
                <a:avLst>
                  <a:gd fmla="val 4444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6"/>
              <p:cNvSpPr txBox="1"/>
              <p:nvPr/>
            </p:nvSpPr>
            <p:spPr>
              <a:xfrm>
                <a:off x="190500" y="142875"/>
                <a:ext cx="5048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A78BFA"/>
                    </a:solidFill>
                    <a:latin typeface="Inter"/>
                    <a:ea typeface="Inter"/>
                    <a:cs typeface="Inter"/>
                    <a:sym typeface="Inter"/>
                  </a:rPr>
                  <a:t>MCP Server (Bonus)</a:t>
                </a:r>
                <a:endParaRPr b="1" sz="1400">
                  <a:solidFill>
                    <a:srgbClr val="A78BF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>
                <a:off x="190500" y="523875"/>
                <a:ext cx="50484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 txBox="1"/>
              <p:nvPr/>
            </p:nvSpPr>
            <p:spPr>
              <a:xfrm>
                <a:off x="285750" y="619125"/>
                <a:ext cx="48579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10B981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$ copado-hx mcp --list-tools</a:t>
                </a:r>
                <a:endParaRPr sz="1050">
                  <a:solidFill>
                    <a:srgbClr val="10B981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94A3B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Starting MCP server...</a:t>
                </a:r>
                <a:endParaRPr sz="105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60A5F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25</a:t>
                </a:r>
                <a:r>
                  <a:rPr lang="en-US" sz="1050">
                    <a:solidFill>
                      <a:srgbClr val="60A5F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 tools advertised (stdio)</a:t>
                </a:r>
                <a:endParaRPr sz="1050">
                  <a:solidFill>
                    <a:srgbClr val="60A5F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261" name="Google Shape;261;p6"/>
              <p:cNvSpPr txBox="1"/>
              <p:nvPr/>
            </p:nvSpPr>
            <p:spPr>
              <a:xfrm>
                <a:off x="190500" y="1476375"/>
                <a:ext cx="50484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7625" lIns="47625" spcFirstLastPara="1" rIns="47625" wrap="square" tIns="476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9FAFB"/>
                    </a:solidFill>
                    <a:latin typeface="Inter"/>
                    <a:ea typeface="Inter"/>
                    <a:cs typeface="Inter"/>
                    <a:sym typeface="Inter"/>
                  </a:rPr>
                  <a:t>Available Tools:</a:t>
                </a:r>
                <a:endParaRPr b="1" sz="1200">
                  <a:solidFill>
                    <a:srgbClr val="F9FAF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version_mcp, config_get_mcp, auth_status, auth_status_mcp, auth_logout_mcp, story_list, story_show, story_set_context, story_create_mcp, commit, promote, deploy_to_prod, deliver_story, workflow_list, workflow_run, list_test_jobs, run_test, test_status, test_results, ai_ask_agent, ai_triage, deployment_confidence, list_environments, list_pipelines, check_pipeline_status</a:t>
                </a:r>
                <a:endParaRPr b="0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190500" y="2809875"/>
                <a:ext cx="5048400" cy="428700"/>
              </a:xfrm>
              <a:prstGeom prst="roundRect">
                <a:avLst>
                  <a:gd fmla="val 22222" name="adj"/>
                </a:avLst>
              </a:prstGeom>
              <a:solidFill>
                <a:srgbClr val="8B5CF6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6"/>
              <p:cNvSpPr txBox="1"/>
              <p:nvPr/>
            </p:nvSpPr>
            <p:spPr>
              <a:xfrm>
                <a:off x="190500" y="2809875"/>
                <a:ext cx="504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A78BFA"/>
                    </a:solidFill>
                    <a:latin typeface="Inter"/>
                    <a:ea typeface="Inter"/>
                    <a:cs typeface="Inter"/>
                    <a:sym typeface="Inter"/>
                  </a:rPr>
                  <a:t>Compatible with Claude Code, Cursor, VS Code</a:t>
                </a:r>
                <a:endParaRPr b="1" sz="1100">
                  <a:solidFill>
                    <a:srgbClr val="A78BF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64" name="Google Shape;264;p6"/>
          <p:cNvSpPr/>
          <p:nvPr/>
        </p:nvSpPr>
        <p:spPr>
          <a:xfrm>
            <a:off x="0" y="6446520"/>
            <a:ext cx="12191700" cy="411600"/>
          </a:xfrm>
          <a:prstGeom prst="rect">
            <a:avLst/>
          </a:prstGeom>
          <a:solidFill>
            <a:srgbClr val="1617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548640" y="6473952"/>
            <a:ext cx="457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D82"/>
                </a:solidFill>
                <a:latin typeface="Calibri"/>
                <a:ea typeface="Calibri"/>
                <a:cs typeface="Calibri"/>
                <a:sym typeface="Calibri"/>
              </a:rPr>
              <a:t>copado-hx  ·  CopadoCON Bangalore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5029200" y="6473952"/>
            <a:ext cx="274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9BBF"/>
                </a:solidFill>
                <a:latin typeface="Calibri"/>
                <a:ea typeface="Calibri"/>
                <a:cs typeface="Calibri"/>
                <a:sym typeface="Calibri"/>
              </a:rPr>
              <a:t>●  ●  ●  ●  ●  ○  ○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11277295" y="6473952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6D8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7"/>
          <p:cNvGrpSpPr/>
          <p:nvPr/>
        </p:nvGrpSpPr>
        <p:grpSpPr>
          <a:xfrm>
            <a:off x="571500" y="381000"/>
            <a:ext cx="11049000" cy="1133475"/>
            <a:chOff x="571500" y="381000"/>
            <a:chExt cx="11049000" cy="1133475"/>
          </a:xfrm>
        </p:grpSpPr>
        <p:sp>
          <p:nvSpPr>
            <p:cNvPr id="273" name="Google Shape;273;p7"/>
            <p:cNvSpPr txBox="1"/>
            <p:nvPr/>
          </p:nvSpPr>
          <p:spPr>
            <a:xfrm>
              <a:off x="571500" y="381000"/>
              <a:ext cx="1104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885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Auth &amp; Setup </a:t>
              </a:r>
              <a:r>
                <a:rPr b="0" lang="en-US" sz="3885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+</a:t>
              </a:r>
              <a:r>
                <a:rPr b="0" lang="en-US" sz="3885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Deliverables</a:t>
              </a:r>
              <a:endParaRPr b="0" sz="3885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850">
                  <a:solidFill>
                    <a:srgbClr val="94A3B8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One command · Zero passwords on disk</a:t>
              </a:r>
              <a:endParaRPr b="0" sz="185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571500" y="147637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" name="Google Shape;275;p7"/>
          <p:cNvGrpSpPr/>
          <p:nvPr/>
        </p:nvGrpSpPr>
        <p:grpSpPr>
          <a:xfrm>
            <a:off x="571500" y="1809750"/>
            <a:ext cx="5381700" cy="3619500"/>
            <a:chOff x="571500" y="1809750"/>
            <a:chExt cx="5381700" cy="3619500"/>
          </a:xfrm>
        </p:grpSpPr>
        <p:sp>
          <p:nvSpPr>
            <p:cNvPr id="276" name="Google Shape;276;p7"/>
            <p:cNvSpPr/>
            <p:nvPr/>
          </p:nvSpPr>
          <p:spPr>
            <a:xfrm>
              <a:off x="571500" y="1809750"/>
              <a:ext cx="5381700" cy="3619500"/>
            </a:xfrm>
            <a:prstGeom prst="roundRect">
              <a:avLst>
                <a:gd fmla="val 526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7"/>
            <p:cNvSpPr txBox="1"/>
            <p:nvPr/>
          </p:nvSpPr>
          <p:spPr>
            <a:xfrm>
              <a:off x="857250" y="2000250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Authentication Flow</a:t>
              </a:r>
              <a:endParaRPr b="1" sz="18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857250" y="2476500"/>
              <a:ext cx="4810200" cy="1428900"/>
            </a:xfrm>
            <a:prstGeom prst="roundRect">
              <a:avLst>
                <a:gd fmla="val 8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7"/>
            <p:cNvSpPr txBox="1"/>
            <p:nvPr/>
          </p:nvSpPr>
          <p:spPr>
            <a:xfrm>
              <a:off x="1000125" y="2619375"/>
              <a:ext cx="4524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0FA7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$ copado-hx auth status</a:t>
              </a:r>
              <a:endParaRPr sz="1000">
                <a:solidFill>
                  <a:srgbClr val="50FA7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╭─ Authentication Status ───────────────╮</a:t>
              </a:r>
              <a:endPara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│ Salesforce: Authenticated ✓ │</a:t>
              </a:r>
              <a:endParaRPr sz="10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│ AI Platform: Configured ✓ │</a:t>
              </a:r>
              <a:endParaRPr sz="10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│ CRT (Tests): Configured ✓ │</a:t>
              </a:r>
              <a:endParaRPr sz="10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│ Actions API: Configured ✓ │</a:t>
              </a:r>
              <a:endParaRPr sz="10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╰───────────────────────────────────────╯</a:t>
              </a:r>
              <a:endPara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80" name="Google Shape;280;p7"/>
            <p:cNvSpPr txBox="1"/>
            <p:nvPr/>
          </p:nvSpPr>
          <p:spPr>
            <a:xfrm>
              <a:off x="857250" y="4048125"/>
              <a:ext cx="48102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8FAFC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Salesforce OAuth via browser flow</a:t>
              </a:r>
              <a:endParaRPr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8FAFC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AI API Key stored securely</a:t>
              </a:r>
              <a:endParaRPr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8FAFC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CRT PAK stored securely</a:t>
              </a:r>
              <a:endParaRPr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8FAFC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Actions API Key from Account Summary</a:t>
              </a:r>
              <a:endParaRPr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Credentials: ~/.copado-hx-secrets.json (600)</a:t>
              </a:r>
              <a:endPara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1" name="Google Shape;281;p7"/>
          <p:cNvGrpSpPr/>
          <p:nvPr/>
        </p:nvGrpSpPr>
        <p:grpSpPr>
          <a:xfrm>
            <a:off x="6238875" y="1809750"/>
            <a:ext cx="5381700" cy="3619500"/>
            <a:chOff x="6238875" y="1809750"/>
            <a:chExt cx="5381700" cy="3619500"/>
          </a:xfrm>
        </p:grpSpPr>
        <p:sp>
          <p:nvSpPr>
            <p:cNvPr id="282" name="Google Shape;282;p7"/>
            <p:cNvSpPr/>
            <p:nvPr/>
          </p:nvSpPr>
          <p:spPr>
            <a:xfrm>
              <a:off x="6238875" y="1809750"/>
              <a:ext cx="5381700" cy="3619500"/>
            </a:xfrm>
            <a:prstGeom prst="roundRect">
              <a:avLst>
                <a:gd fmla="val 5263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7"/>
            <p:cNvSpPr txBox="1"/>
            <p:nvPr/>
          </p:nvSpPr>
          <p:spPr>
            <a:xfrm>
              <a:off x="6524625" y="2000250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0FA7B"/>
                  </a:solidFill>
                  <a:latin typeface="Inter"/>
                  <a:ea typeface="Inter"/>
                  <a:cs typeface="Inter"/>
                  <a:sym typeface="Inter"/>
                </a:rPr>
                <a:t>Track B Deliverables</a:t>
              </a:r>
              <a:endParaRPr b="1" sz="1800">
                <a:solidFill>
                  <a:srgbClr val="50FA7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84" name="Google Shape;284;p7"/>
            <p:cNvGrpSpPr/>
            <p:nvPr/>
          </p:nvGrpSpPr>
          <p:grpSpPr>
            <a:xfrm>
              <a:off x="6524625" y="2476500"/>
              <a:ext cx="4810200" cy="619200"/>
              <a:chOff x="0" y="0"/>
              <a:chExt cx="4810200" cy="619200"/>
            </a:xfrm>
          </p:grpSpPr>
          <p:sp>
            <p:nvSpPr>
              <p:cNvPr id="285" name="Google Shape;285;p7"/>
              <p:cNvSpPr/>
              <p:nvPr/>
            </p:nvSpPr>
            <p:spPr>
              <a:xfrm>
                <a:off x="0" y="0"/>
                <a:ext cx="4810200" cy="619200"/>
              </a:xfrm>
              <a:prstGeom prst="roundRect">
                <a:avLst>
                  <a:gd fmla="val 15384" name="adj"/>
                </a:avLst>
              </a:prstGeom>
              <a:solidFill>
                <a:srgbClr val="0F172A">
                  <a:alpha val="5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7"/>
              <p:cNvSpPr txBox="1"/>
              <p:nvPr/>
            </p:nvSpPr>
            <p:spPr>
              <a:xfrm>
                <a:off x="142875" y="0"/>
                <a:ext cx="4524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copado-hx CLI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27</a:t>
                </a:r>
                <a:r>
                  <a:rPr lang="en-US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command groups, 46 tests</a:t>
                </a:r>
                <a:endParaRPr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87" name="Google Shape;287;p7"/>
            <p:cNvGrpSpPr/>
            <p:nvPr/>
          </p:nvGrpSpPr>
          <p:grpSpPr>
            <a:xfrm>
              <a:off x="6524625" y="3190875"/>
              <a:ext cx="4810200" cy="619200"/>
              <a:chOff x="0" y="0"/>
              <a:chExt cx="4810200" cy="619200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0" y="0"/>
                <a:ext cx="4810200" cy="619200"/>
              </a:xfrm>
              <a:prstGeom prst="roundRect">
                <a:avLst>
                  <a:gd fmla="val 15384" name="adj"/>
                </a:avLst>
              </a:prstGeom>
              <a:solidFill>
                <a:srgbClr val="0F172A">
                  <a:alpha val="5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7"/>
              <p:cNvSpPr txBox="1"/>
              <p:nvPr/>
            </p:nvSpPr>
            <p:spPr>
              <a:xfrm>
                <a:off x="142875" y="0"/>
                <a:ext cx="4524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SKILL.md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37 </a:t>
                </a:r>
                <a:r>
                  <a:rPr lang="en-US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sections, 6 playbooks, 9 guardrails</a:t>
                </a:r>
                <a:endParaRPr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0" name="Google Shape;290;p7"/>
            <p:cNvGrpSpPr/>
            <p:nvPr/>
          </p:nvGrpSpPr>
          <p:grpSpPr>
            <a:xfrm>
              <a:off x="6524625" y="3905250"/>
              <a:ext cx="4810200" cy="619200"/>
              <a:chOff x="0" y="0"/>
              <a:chExt cx="4810200" cy="619200"/>
            </a:xfrm>
          </p:grpSpPr>
          <p:sp>
            <p:nvSpPr>
              <p:cNvPr id="291" name="Google Shape;291;p7"/>
              <p:cNvSpPr/>
              <p:nvPr/>
            </p:nvSpPr>
            <p:spPr>
              <a:xfrm>
                <a:off x="0" y="0"/>
                <a:ext cx="4810200" cy="619200"/>
              </a:xfrm>
              <a:prstGeom prst="roundRect">
                <a:avLst>
                  <a:gd fmla="val 15384" name="adj"/>
                </a:avLst>
              </a:prstGeom>
              <a:solidFill>
                <a:srgbClr val="0F172A">
                  <a:alpha val="5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7"/>
              <p:cNvSpPr txBox="1"/>
              <p:nvPr/>
            </p:nvSpPr>
            <p:spPr>
              <a:xfrm>
                <a:off x="142875" y="0"/>
                <a:ext cx="4524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MCP Server </a:t>
                </a:r>
                <a:r>
                  <a:rPr b="1" lang="en-US" sz="1000">
                    <a:solidFill>
                      <a:srgbClr val="A78BFA"/>
                    </a:solidFill>
                    <a:latin typeface="Inter"/>
                    <a:ea typeface="Inter"/>
                    <a:cs typeface="Inter"/>
                    <a:sym typeface="Inter"/>
                  </a:rPr>
                  <a:t>(Bonus)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25</a:t>
                </a:r>
                <a:r>
                  <a:rPr lang="en-US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FastMCP tools</a:t>
                </a:r>
                <a:endParaRPr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3" name="Google Shape;293;p7"/>
            <p:cNvGrpSpPr/>
            <p:nvPr/>
          </p:nvGrpSpPr>
          <p:grpSpPr>
            <a:xfrm>
              <a:off x="6524625" y="4619625"/>
              <a:ext cx="4810200" cy="619200"/>
              <a:chOff x="0" y="0"/>
              <a:chExt cx="4810200" cy="619200"/>
            </a:xfrm>
          </p:grpSpPr>
          <p:sp>
            <p:nvSpPr>
              <p:cNvPr id="294" name="Google Shape;294;p7"/>
              <p:cNvSpPr/>
              <p:nvPr/>
            </p:nvSpPr>
            <p:spPr>
              <a:xfrm>
                <a:off x="0" y="0"/>
                <a:ext cx="4810200" cy="619200"/>
              </a:xfrm>
              <a:prstGeom prst="roundRect">
                <a:avLst>
                  <a:gd fmla="val 15384" name="adj"/>
                </a:avLst>
              </a:prstGeom>
              <a:solidFill>
                <a:srgbClr val="0F172A">
                  <a:alpha val="5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7"/>
              <p:cNvSpPr txBox="1"/>
              <p:nvPr/>
            </p:nvSpPr>
            <p:spPr>
              <a:xfrm>
                <a:off x="142875" y="0"/>
                <a:ext cx="4524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Demo video &amp; Slide deck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41s recording · 8 slides</a:t>
                </a:r>
                <a:endParaRPr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96" name="Google Shape;296;p7"/>
          <p:cNvGrpSpPr/>
          <p:nvPr/>
        </p:nvGrpSpPr>
        <p:grpSpPr>
          <a:xfrm>
            <a:off x="571500" y="5619750"/>
            <a:ext cx="11049000" cy="666900"/>
            <a:chOff x="571500" y="5619750"/>
            <a:chExt cx="11049000" cy="666900"/>
          </a:xfrm>
        </p:grpSpPr>
        <p:sp>
          <p:nvSpPr>
            <p:cNvPr id="297" name="Google Shape;297;p7"/>
            <p:cNvSpPr/>
            <p:nvPr/>
          </p:nvSpPr>
          <p:spPr>
            <a:xfrm>
              <a:off x="571500" y="5619750"/>
              <a:ext cx="11049000" cy="666900"/>
            </a:xfrm>
            <a:prstGeom prst="roundRect">
              <a:avLst>
                <a:gd fmla="val 17142" name="adj"/>
              </a:avLst>
            </a:prstGeom>
            <a:solidFill>
              <a:srgbClr val="16172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7"/>
            <p:cNvSpPr txBox="1"/>
            <p:nvPr/>
          </p:nvSpPr>
          <p:spPr>
            <a:xfrm>
              <a:off x="809625" y="5619750"/>
              <a:ext cx="10572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50FA7B"/>
                  </a:solidFill>
                  <a:latin typeface="Inter"/>
                  <a:ea typeface="Inter"/>
                  <a:cs typeface="Inter"/>
                  <a:sym typeface="Inter"/>
                </a:rPr>
                <a:t>Rules Compliance</a:t>
              </a:r>
              <a:endParaRPr b="1" sz="1200">
                <a:solidFill>
                  <a:srgbClr val="50FA7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MIT License · 2 members · 4 API integrations · OAuth · No secrets in repo · 5 specialist agents · Hackathon-fresh code</a:t>
              </a:r>
              <a:endPara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99" name="Google Shape;299;p7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5060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0" name="Google Shape;300;p7"/>
          <p:cNvGrpSpPr/>
          <p:nvPr/>
        </p:nvGrpSpPr>
        <p:grpSpPr>
          <a:xfrm>
            <a:off x="571500" y="6477000"/>
            <a:ext cx="11049150" cy="381000"/>
            <a:chOff x="571500" y="6477000"/>
            <a:chExt cx="11049150" cy="381000"/>
          </a:xfrm>
        </p:grpSpPr>
        <p:sp>
          <p:nvSpPr>
            <p:cNvPr id="301" name="Google Shape;301;p7"/>
            <p:cNvSpPr txBox="1"/>
            <p:nvPr/>
          </p:nvSpPr>
          <p:spPr>
            <a:xfrm>
              <a:off x="571500" y="647700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B6D82"/>
                  </a:solidFill>
                  <a:latin typeface="Inter"/>
                  <a:ea typeface="Inter"/>
                  <a:cs typeface="Inter"/>
                  <a:sym typeface="Inter"/>
                </a:rPr>
                <a:t>copado-hx · CopadoCON Bangalore 2026</a:t>
              </a:r>
              <a:endParaRPr sz="9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2" name="Google Shape;302;p7"/>
            <p:cNvSpPr txBox="1"/>
            <p:nvPr/>
          </p:nvSpPr>
          <p:spPr>
            <a:xfrm>
              <a:off x="4191000" y="647700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● ● ● ● ● ● ○</a:t>
              </a:r>
              <a:endParaRPr sz="8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3" name="Google Shape;303;p7"/>
            <p:cNvSpPr txBox="1"/>
            <p:nvPr/>
          </p:nvSpPr>
          <p:spPr>
            <a:xfrm>
              <a:off x="10953750" y="6477000"/>
              <a:ext cx="66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B6D82"/>
                  </a:solidFill>
                  <a:latin typeface="Inter"/>
                  <a:ea typeface="Inter"/>
                  <a:cs typeface="Inter"/>
                  <a:sym typeface="Inter"/>
                </a:rPr>
                <a:t>6</a:t>
              </a:r>
              <a:endParaRPr sz="9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8"/>
          <p:cNvGrpSpPr/>
          <p:nvPr/>
        </p:nvGrpSpPr>
        <p:grpSpPr>
          <a:xfrm>
            <a:off x="571500" y="381000"/>
            <a:ext cx="11049000" cy="1038225"/>
            <a:chOff x="571500" y="381000"/>
            <a:chExt cx="11049000" cy="1038225"/>
          </a:xfrm>
        </p:grpSpPr>
        <p:sp>
          <p:nvSpPr>
            <p:cNvPr id="309" name="Google Shape;309;p8"/>
            <p:cNvSpPr txBox="1"/>
            <p:nvPr/>
          </p:nvSpPr>
          <p:spPr>
            <a:xfrm>
              <a:off x="571500" y="381000"/>
              <a:ext cx="1104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885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Demo Flow</a:t>
              </a:r>
              <a:endParaRPr b="0" sz="3885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665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15 commands · 4 API surfaces · 0 browser tabs</a:t>
              </a:r>
              <a:endParaRPr b="0" sz="1665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571500" y="13811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8"/>
          <p:cNvGrpSpPr/>
          <p:nvPr/>
        </p:nvGrpSpPr>
        <p:grpSpPr>
          <a:xfrm>
            <a:off x="571500" y="1714500"/>
            <a:ext cx="8239125" cy="4000500"/>
            <a:chOff x="571500" y="1714500"/>
            <a:chExt cx="8239125" cy="4000500"/>
          </a:xfrm>
        </p:grpSpPr>
        <p:sp>
          <p:nvSpPr>
            <p:cNvPr id="312" name="Google Shape;312;p8"/>
            <p:cNvSpPr/>
            <p:nvPr/>
          </p:nvSpPr>
          <p:spPr>
            <a:xfrm>
              <a:off x="571500" y="1714500"/>
              <a:ext cx="8191500" cy="4000500"/>
            </a:xfrm>
            <a:prstGeom prst="roundRect">
              <a:avLst>
                <a:gd fmla="val 3809" name="adj"/>
              </a:avLst>
            </a:prstGeom>
            <a:solidFill>
              <a:srgbClr val="161728"/>
            </a:solidFill>
            <a:ln cap="flat" cmpd="sng" w="9525">
              <a:solidFill>
                <a:srgbClr val="2D2F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3" name="Google Shape;313;p8"/>
            <p:cNvGrpSpPr/>
            <p:nvPr/>
          </p:nvGrpSpPr>
          <p:grpSpPr>
            <a:xfrm>
              <a:off x="857250" y="2000250"/>
              <a:ext cx="3762525" cy="381000"/>
              <a:chOff x="0" y="0"/>
              <a:chExt cx="3762525" cy="381000"/>
            </a:xfrm>
          </p:grpSpPr>
          <p:sp>
            <p:nvSpPr>
              <p:cNvPr id="314" name="Google Shape;314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D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01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16" name="Google Shape;316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--help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17 commands shown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17" name="Google Shape;317;p8"/>
            <p:cNvGrpSpPr/>
            <p:nvPr/>
          </p:nvGrpSpPr>
          <p:grpSpPr>
            <a:xfrm>
              <a:off x="857250" y="2524125"/>
              <a:ext cx="3762525" cy="381000"/>
              <a:chOff x="0" y="0"/>
              <a:chExt cx="3762525" cy="381000"/>
            </a:xfrm>
          </p:grpSpPr>
          <p:sp>
            <p:nvSpPr>
              <p:cNvPr id="318" name="Google Shape;318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D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02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20" name="Google Shape;320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auth status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4/4 services green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1" name="Google Shape;321;p8"/>
            <p:cNvGrpSpPr/>
            <p:nvPr/>
          </p:nvGrpSpPr>
          <p:grpSpPr>
            <a:xfrm>
              <a:off x="857250" y="3048000"/>
              <a:ext cx="3762525" cy="381000"/>
              <a:chOff x="0" y="0"/>
              <a:chExt cx="3762525" cy="381000"/>
            </a:xfrm>
          </p:grpSpPr>
          <p:sp>
            <p:nvSpPr>
              <p:cNvPr id="322" name="Google Shape;322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D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03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24" name="Google Shape;324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story list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1 user story found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5" name="Google Shape;325;p8"/>
            <p:cNvGrpSpPr/>
            <p:nvPr/>
          </p:nvGrpSpPr>
          <p:grpSpPr>
            <a:xfrm>
              <a:off x="857250" y="3571875"/>
              <a:ext cx="3762525" cy="381000"/>
              <a:chOff x="0" y="0"/>
              <a:chExt cx="3762525" cy="381000"/>
            </a:xfrm>
          </p:grpSpPr>
          <p:sp>
            <p:nvSpPr>
              <p:cNvPr id="326" name="Google Shape;326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D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04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28" name="Google Shape;328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story show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Draft status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9" name="Google Shape;329;p8"/>
            <p:cNvGrpSpPr/>
            <p:nvPr/>
          </p:nvGrpSpPr>
          <p:grpSpPr>
            <a:xfrm>
              <a:off x="857250" y="4095750"/>
              <a:ext cx="3762525" cy="381000"/>
              <a:chOff x="0" y="0"/>
              <a:chExt cx="3762525" cy="381000"/>
            </a:xfrm>
          </p:grpSpPr>
          <p:sp>
            <p:nvSpPr>
              <p:cNvPr id="330" name="Google Shape;330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D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05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32" name="Google Shape;332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workflow list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7 workflows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3" name="Google Shape;333;p8"/>
            <p:cNvGrpSpPr/>
            <p:nvPr/>
          </p:nvGrpSpPr>
          <p:grpSpPr>
            <a:xfrm>
              <a:off x="857250" y="4619625"/>
              <a:ext cx="3762525" cy="381000"/>
              <a:chOff x="0" y="0"/>
              <a:chExt cx="3762525" cy="381000"/>
            </a:xfrm>
          </p:grpSpPr>
          <p:sp>
            <p:nvSpPr>
              <p:cNvPr id="334" name="Google Shape;334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D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06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36" name="Google Shape;336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story set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Context set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7" name="Google Shape;337;p8"/>
            <p:cNvGrpSpPr/>
            <p:nvPr/>
          </p:nvGrpSpPr>
          <p:grpSpPr>
            <a:xfrm>
              <a:off x="857250" y="5143500"/>
              <a:ext cx="3762525" cy="381000"/>
              <a:chOff x="0" y="0"/>
              <a:chExt cx="3762525" cy="381000"/>
            </a:xfrm>
          </p:grpSpPr>
          <p:sp>
            <p:nvSpPr>
              <p:cNvPr id="338" name="Google Shape;338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D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07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40" name="Google Shape;340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commit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Actions API JE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1" name="Google Shape;341;p8"/>
            <p:cNvGrpSpPr/>
            <p:nvPr/>
          </p:nvGrpSpPr>
          <p:grpSpPr>
            <a:xfrm>
              <a:off x="4572000" y="2000250"/>
              <a:ext cx="4238625" cy="381000"/>
              <a:chOff x="0" y="0"/>
              <a:chExt cx="4238625" cy="381000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D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08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44" name="Google Shape;344;p8"/>
              <p:cNvSpPr txBox="1"/>
              <p:nvPr/>
            </p:nvSpPr>
            <p:spPr>
              <a:xfrm>
                <a:off x="428625" y="0"/>
                <a:ext cx="381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promote --env UAT-SFP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Actions API JE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5" name="Google Shape;345;p8"/>
            <p:cNvGrpSpPr/>
            <p:nvPr/>
          </p:nvGrpSpPr>
          <p:grpSpPr>
            <a:xfrm>
              <a:off x="4572000" y="2524125"/>
              <a:ext cx="3762525" cy="381000"/>
              <a:chOff x="0" y="0"/>
              <a:chExt cx="3762525" cy="381000"/>
            </a:xfrm>
          </p:grpSpPr>
          <p:sp>
            <p:nvSpPr>
              <p:cNvPr id="346" name="Google Shape;346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D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09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48" name="Google Shape;348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test list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CRT jobs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9" name="Google Shape;349;p8"/>
            <p:cNvGrpSpPr/>
            <p:nvPr/>
          </p:nvGrpSpPr>
          <p:grpSpPr>
            <a:xfrm>
              <a:off x="4572000" y="3048000"/>
              <a:ext cx="3762525" cy="381000"/>
              <a:chOff x="0" y="0"/>
              <a:chExt cx="3762525" cy="381000"/>
            </a:xfrm>
          </p:grpSpPr>
          <p:sp>
            <p:nvSpPr>
              <p:cNvPr id="350" name="Google Shape;350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D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10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52" name="Google Shape;352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test run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CRT build triggered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53" name="Google Shape;353;p8"/>
            <p:cNvGrpSpPr/>
            <p:nvPr/>
          </p:nvGrpSpPr>
          <p:grpSpPr>
            <a:xfrm>
              <a:off x="4572000" y="3571875"/>
              <a:ext cx="3762525" cy="381000"/>
              <a:chOff x="0" y="0"/>
              <a:chExt cx="3762525" cy="381000"/>
            </a:xfrm>
          </p:grpSpPr>
          <p:sp>
            <p:nvSpPr>
              <p:cNvPr id="354" name="Google Shape;354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D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11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56" name="Google Shape;356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env list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7 environments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57" name="Google Shape;357;p8"/>
            <p:cNvGrpSpPr/>
            <p:nvPr/>
          </p:nvGrpSpPr>
          <p:grpSpPr>
            <a:xfrm>
              <a:off x="4572000" y="4095750"/>
              <a:ext cx="3762525" cy="381000"/>
              <a:chOff x="0" y="0"/>
              <a:chExt cx="3762525" cy="381000"/>
            </a:xfrm>
          </p:grpSpPr>
          <p:sp>
            <p:nvSpPr>
              <p:cNvPr id="358" name="Google Shape;358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FF6B6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12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60" name="Google Shape;360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deploy --env PROD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FF6B6B"/>
                    </a:solidFill>
                    <a:latin typeface="Inter"/>
                    <a:ea typeface="Inter"/>
                    <a:cs typeface="Inter"/>
                    <a:sym typeface="Inter"/>
                  </a:rPr>
                  <a:t>Gate: cancelled</a:t>
                </a:r>
                <a:endParaRPr sz="900">
                  <a:solidFill>
                    <a:srgbClr val="FF6B6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61" name="Google Shape;361;p8"/>
            <p:cNvGrpSpPr/>
            <p:nvPr/>
          </p:nvGrpSpPr>
          <p:grpSpPr>
            <a:xfrm>
              <a:off x="4572000" y="4619625"/>
              <a:ext cx="3762525" cy="381000"/>
              <a:chOff x="0" y="0"/>
              <a:chExt cx="3762525" cy="381000"/>
            </a:xfrm>
          </p:grpSpPr>
          <p:sp>
            <p:nvSpPr>
              <p:cNvPr id="362" name="Google Shape;362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50FA7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13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64" name="Google Shape;364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ai ask --agent build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Apex code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65" name="Google Shape;365;p8"/>
            <p:cNvGrpSpPr/>
            <p:nvPr/>
          </p:nvGrpSpPr>
          <p:grpSpPr>
            <a:xfrm>
              <a:off x="4572000" y="5143500"/>
              <a:ext cx="3762525" cy="381000"/>
              <a:chOff x="0" y="0"/>
              <a:chExt cx="3762525" cy="381000"/>
            </a:xfrm>
          </p:grpSpPr>
          <p:sp>
            <p:nvSpPr>
              <p:cNvPr id="366" name="Google Shape;366;p8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00D2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8"/>
              <p:cNvSpPr txBox="1"/>
              <p:nvPr/>
            </p:nvSpPr>
            <p:spPr>
              <a:xfrm>
                <a:off x="0" y="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0D0E1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14</a:t>
                </a:r>
                <a:endParaRPr b="0" sz="900">
                  <a:solidFill>
                    <a:srgbClr val="0D0E1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68" name="Google Shape;368;p8"/>
              <p:cNvSpPr txBox="1"/>
              <p:nvPr/>
            </p:nvSpPr>
            <p:spPr>
              <a:xfrm>
                <a:off x="4286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copado-hx status --json</a:t>
                </a:r>
                <a:endParaRPr sz="11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A0A2BA"/>
                    </a:solidFill>
                    <a:latin typeface="Inter"/>
                    <a:ea typeface="Inter"/>
                    <a:cs typeface="Inter"/>
                    <a:sym typeface="Inter"/>
                  </a:rPr>
                  <a:t>JSON output</a:t>
                </a:r>
                <a:endParaRPr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69" name="Google Shape;369;p8"/>
          <p:cNvGrpSpPr/>
          <p:nvPr/>
        </p:nvGrpSpPr>
        <p:grpSpPr>
          <a:xfrm>
            <a:off x="8953500" y="1714500"/>
            <a:ext cx="2667000" cy="4000500"/>
            <a:chOff x="8953500" y="1714500"/>
            <a:chExt cx="2667000" cy="4000500"/>
          </a:xfrm>
        </p:grpSpPr>
        <p:sp>
          <p:nvSpPr>
            <p:cNvPr id="370" name="Google Shape;370;p8"/>
            <p:cNvSpPr/>
            <p:nvPr/>
          </p:nvSpPr>
          <p:spPr>
            <a:xfrm>
              <a:off x="8953500" y="1714500"/>
              <a:ext cx="2667000" cy="4000500"/>
            </a:xfrm>
            <a:prstGeom prst="roundRect">
              <a:avLst>
                <a:gd fmla="val 5714" name="adj"/>
              </a:avLst>
            </a:prstGeom>
            <a:solidFill>
              <a:srgbClr val="1F2138"/>
            </a:solidFill>
            <a:ln cap="flat" cmpd="sng" w="19050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8"/>
            <p:cNvSpPr txBox="1"/>
            <p:nvPr/>
          </p:nvSpPr>
          <p:spPr>
            <a:xfrm>
              <a:off x="9144000" y="1905000"/>
              <a:ext cx="2286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Demo Recording</a:t>
              </a:r>
              <a:endParaRPr b="1" sz="16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41s at 1x speed</a:t>
              </a:r>
              <a:endParaRPr b="0" sz="14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~20s at 2x playback</a:t>
              </a:r>
              <a:endParaRPr sz="10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B6D82"/>
                  </a:solidFill>
                  <a:latin typeface="Inter"/>
                  <a:ea typeface="Inter"/>
                  <a:cs typeface="Inter"/>
                  <a:sym typeface="Inter"/>
                </a:rPr>
                <a:t>Recording Tool</a:t>
              </a:r>
              <a:endParaRPr b="1" sz="9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asciinema 3.2.0</a:t>
              </a:r>
              <a:endParaRPr b="0" sz="12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B6D82"/>
                  </a:solidFill>
                  <a:latin typeface="Inter"/>
                  <a:ea typeface="Inter"/>
                  <a:cs typeface="Inter"/>
                  <a:sym typeface="Inter"/>
                </a:rPr>
                <a:t>GIF Conversion</a:t>
              </a:r>
              <a:endParaRPr b="1" sz="9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agg (asciinema gif)</a:t>
              </a:r>
              <a:endParaRPr b="0" sz="12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D2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49 frames · 1.2MB</a:t>
              </a:r>
              <a:endParaRPr b="0" sz="1100">
                <a:solidFill>
                  <a:srgbClr val="00D2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50FA7B"/>
                  </a:solidFill>
                  <a:latin typeface="Inter"/>
                  <a:ea typeface="Inter"/>
                  <a:cs typeface="Inter"/>
                  <a:sym typeface="Inter"/>
                </a:rPr>
                <a:t>Agentforce Action</a:t>
              </a:r>
              <a:endParaRPr b="1" sz="1000">
                <a:solidFill>
                  <a:srgbClr val="50FA7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A0A2BA"/>
                  </a:solidFill>
                  <a:latin typeface="Inter"/>
                  <a:ea typeface="Inter"/>
                  <a:cs typeface="Inter"/>
                  <a:sym typeface="Inter"/>
                </a:rPr>
                <a:t>5 @InvocableMethod Apex actions</a:t>
              </a:r>
              <a:endParaRPr sz="900">
                <a:solidFill>
                  <a:srgbClr val="A0A2B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2" name="Google Shape;372;p8"/>
          <p:cNvGrpSpPr/>
          <p:nvPr/>
        </p:nvGrpSpPr>
        <p:grpSpPr>
          <a:xfrm>
            <a:off x="571500" y="5857875"/>
            <a:ext cx="11049000" cy="619275"/>
            <a:chOff x="571500" y="5857875"/>
            <a:chExt cx="11049000" cy="619275"/>
          </a:xfrm>
        </p:grpSpPr>
        <p:sp>
          <p:nvSpPr>
            <p:cNvPr id="373" name="Google Shape;373;p8"/>
            <p:cNvSpPr/>
            <p:nvPr/>
          </p:nvSpPr>
          <p:spPr>
            <a:xfrm>
              <a:off x="571500" y="5857875"/>
              <a:ext cx="11049000" cy="9600"/>
            </a:xfrm>
            <a:prstGeom prst="rect">
              <a:avLst/>
            </a:prstGeom>
            <a:solidFill>
              <a:srgbClr val="2D2F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8"/>
            <p:cNvSpPr txBox="1"/>
            <p:nvPr/>
          </p:nvSpPr>
          <p:spPr>
            <a:xfrm>
              <a:off x="571500" y="6000750"/>
              <a:ext cx="11049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github.com/devkdas/copado-hx</a:t>
              </a:r>
              <a:endParaRPr b="1" sz="14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B6D82"/>
                  </a:solidFill>
                  <a:latin typeface="Inter"/>
                  <a:ea typeface="Inter"/>
                  <a:cs typeface="Inter"/>
                  <a:sym typeface="Inter"/>
                </a:rPr>
                <a:t>No Browser. No Context Switching. Just Your Terminal and AI. · Built for CopadoCON Bangalore 2026</a:t>
              </a:r>
              <a:endParaRPr b="0" sz="10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5" name="Google Shape;375;p8"/>
          <p:cNvGrpSpPr/>
          <p:nvPr/>
        </p:nvGrpSpPr>
        <p:grpSpPr>
          <a:xfrm>
            <a:off x="0" y="6524625"/>
            <a:ext cx="12192000" cy="333300"/>
            <a:chOff x="0" y="6524625"/>
            <a:chExt cx="12192000" cy="333300"/>
          </a:xfrm>
        </p:grpSpPr>
        <p:sp>
          <p:nvSpPr>
            <p:cNvPr id="376" name="Google Shape;376;p8"/>
            <p:cNvSpPr/>
            <p:nvPr/>
          </p:nvSpPr>
          <p:spPr>
            <a:xfrm>
              <a:off x="0" y="6524625"/>
              <a:ext cx="12192000" cy="333300"/>
            </a:xfrm>
            <a:prstGeom prst="rect">
              <a:avLst/>
            </a:prstGeom>
            <a:solidFill>
              <a:srgbClr val="05060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8"/>
            <p:cNvSpPr txBox="1"/>
            <p:nvPr/>
          </p:nvSpPr>
          <p:spPr>
            <a:xfrm>
              <a:off x="571500" y="6524625"/>
              <a:ext cx="4762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B6D82"/>
                  </a:solidFill>
                  <a:latin typeface="Inter"/>
                  <a:ea typeface="Inter"/>
                  <a:cs typeface="Inter"/>
                  <a:sym typeface="Inter"/>
                </a:rPr>
                <a:t>copado-hx · CopadoCON Bangalore 2026</a:t>
              </a:r>
              <a:endParaRPr sz="9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8" name="Google Shape;378;p8"/>
            <p:cNvSpPr txBox="1"/>
            <p:nvPr/>
          </p:nvSpPr>
          <p:spPr>
            <a:xfrm>
              <a:off x="10953750" y="6524625"/>
              <a:ext cx="666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B6D82"/>
                  </a:solidFill>
                  <a:latin typeface="Inter"/>
                  <a:ea typeface="Inter"/>
                  <a:cs typeface="Inter"/>
                  <a:sym typeface="Inter"/>
                </a:rPr>
                <a:t>7</a:t>
              </a:r>
              <a:endParaRPr sz="900">
                <a:solidFill>
                  <a:srgbClr val="6B6D8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