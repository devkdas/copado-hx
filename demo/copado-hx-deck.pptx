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75"/>
  <p:notesSz cx="6858000" cy="9144000"/>
  <p:embeddedFontLst>
    <p:embeddedFont>
      <p:font typeface="Inter Light"/>
      <p:regular r:id="rId14"/>
      <p:bold r:id="rId15"/>
      <p:italic r:id="rId16"/>
      <p:boldItalic r:id="rId17"/>
    </p:embeddedFont>
    <p:embeddedFont>
      <p:font typeface="Inter SemiBold"/>
      <p:regular r:id="rId18"/>
      <p:bold r:id="rId19"/>
      <p:italic r:id="rId20"/>
      <p:boldItalic r:id="rId21"/>
    </p:embeddedFont>
    <p:embeddedFont>
      <p:font typeface="Inter"/>
      <p:bold r:id="rId22"/>
      <p:boldItalic r:id="rId23"/>
    </p:embeddedFont>
    <p:embeddedFont>
      <p:font typeface="JetBrains Mono Medium"/>
      <p:regular r:id="rId24"/>
      <p:bold r:id="rId25"/>
      <p:italic r:id="rId26"/>
      <p:boldItalic r:id="rId27"/>
    </p:embeddedFont>
    <p:embeddedFont>
      <p:font typeface="Inter ExtraBold"/>
      <p:bold r:id="rId28"/>
      <p:boldItalic r:id="rId29"/>
    </p:embeddedFont>
    <p:embeddedFont>
      <p:font typeface="Oswald"/>
      <p:bold r:id="rId30"/>
    </p:embeddedFont>
    <p:embeddedFont>
      <p:font typeface="JetBrains Mon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5" roundtripDataSignature="AMtx7miQOhZ7/4gLuo/Bp2S2cmn4UuTQ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italic.fntdata"/><Relationship Id="rId22" Type="http://schemas.openxmlformats.org/officeDocument/2006/relationships/font" Target="fonts/Inter-bold.fntdata"/><Relationship Id="rId21" Type="http://schemas.openxmlformats.org/officeDocument/2006/relationships/font" Target="fonts/InterSemiBold-boldItalic.fntdata"/><Relationship Id="rId24" Type="http://schemas.openxmlformats.org/officeDocument/2006/relationships/font" Target="fonts/JetBrainsMonoMedium-regular.fntdata"/><Relationship Id="rId23" Type="http://schemas.openxmlformats.org/officeDocument/2006/relationships/font" Target="fonts/Inter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JetBrainsMonoMedium-italic.fntdata"/><Relationship Id="rId25" Type="http://schemas.openxmlformats.org/officeDocument/2006/relationships/font" Target="fonts/JetBrainsMonoMedium-bold.fntdata"/><Relationship Id="rId28" Type="http://schemas.openxmlformats.org/officeDocument/2006/relationships/font" Target="fonts/InterExtraBold-bold.fntdata"/><Relationship Id="rId27" Type="http://schemas.openxmlformats.org/officeDocument/2006/relationships/font" Target="fonts/JetBrainsMonoMedium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ExtraBold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JetBrainsMono-regular.fntdata"/><Relationship Id="rId30" Type="http://schemas.openxmlformats.org/officeDocument/2006/relationships/font" Target="fonts/Oswald-bold.fntdata"/><Relationship Id="rId11" Type="http://schemas.openxmlformats.org/officeDocument/2006/relationships/slide" Target="slides/slide6.xml"/><Relationship Id="rId33" Type="http://schemas.openxmlformats.org/officeDocument/2006/relationships/font" Target="fonts/JetBrainsMono-italic.fntdata"/><Relationship Id="rId10" Type="http://schemas.openxmlformats.org/officeDocument/2006/relationships/slide" Target="slides/slide5.xml"/><Relationship Id="rId32" Type="http://schemas.openxmlformats.org/officeDocument/2006/relationships/font" Target="fonts/JetBrainsMono-bold.fntdata"/><Relationship Id="rId13" Type="http://schemas.openxmlformats.org/officeDocument/2006/relationships/slide" Target="slides/slide8.xml"/><Relationship Id="rId35" Type="http://customschemas.google.com/relationships/presentationmetadata" Target="metadata"/><Relationship Id="rId12" Type="http://schemas.openxmlformats.org/officeDocument/2006/relationships/slide" Target="slides/slide7.xml"/><Relationship Id="rId34" Type="http://schemas.openxmlformats.org/officeDocument/2006/relationships/font" Target="fonts/JetBrainsMono-boldItalic.fntdata"/><Relationship Id="rId15" Type="http://schemas.openxmlformats.org/officeDocument/2006/relationships/font" Target="fonts/InterLight-bold.fntdata"/><Relationship Id="rId14" Type="http://schemas.openxmlformats.org/officeDocument/2006/relationships/font" Target="fonts/InterLight-regular.fntdata"/><Relationship Id="rId17" Type="http://schemas.openxmlformats.org/officeDocument/2006/relationships/font" Target="fonts/InterLight-boldItalic.fntdata"/><Relationship Id="rId16" Type="http://schemas.openxmlformats.org/officeDocument/2006/relationships/font" Target="fonts/InterLight-italic.fntdata"/><Relationship Id="rId19" Type="http://schemas.openxmlformats.org/officeDocument/2006/relationships/font" Target="fonts/InterSemiBold-bold.fntdata"/><Relationship Id="rId18" Type="http://schemas.openxmlformats.org/officeDocument/2006/relationships/font" Target="fonts/Inter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857500" y="-3810000"/>
            <a:ext cx="18859500" cy="13525500"/>
            <a:chOff x="-2857500" y="-3810000"/>
            <a:chExt cx="18859500" cy="13525500"/>
          </a:xfrm>
        </p:grpSpPr>
        <p:sp>
          <p:nvSpPr>
            <p:cNvPr id="85" name="Google Shape;85;p1"/>
            <p:cNvSpPr/>
            <p:nvPr/>
          </p:nvSpPr>
          <p:spPr>
            <a:xfrm>
              <a:off x="8382000" y="-3810000"/>
              <a:ext cx="7620000" cy="7620000"/>
            </a:xfrm>
            <a:prstGeom prst="ellipse">
              <a:avLst/>
            </a:prstGeom>
            <a:solidFill>
              <a:srgbClr val="00D2FF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"/>
            <p:cNvSpPr/>
            <p:nvPr/>
          </p:nvSpPr>
          <p:spPr>
            <a:xfrm>
              <a:off x="-2857500" y="4000500"/>
              <a:ext cx="5715000" cy="5715000"/>
            </a:xfrm>
            <a:prstGeom prst="ellipse">
              <a:avLst/>
            </a:prstGeom>
            <a:solidFill>
              <a:srgbClr val="7C3AED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7" name="Google Shape;87;p1"/>
          <p:cNvGrpSpPr/>
          <p:nvPr/>
        </p:nvGrpSpPr>
        <p:grpSpPr>
          <a:xfrm>
            <a:off x="571500" y="381000"/>
            <a:ext cx="5715000" cy="2228850"/>
            <a:chOff x="571500" y="381000"/>
            <a:chExt cx="5715000" cy="2228850"/>
          </a:xfrm>
        </p:grpSpPr>
        <p:sp>
          <p:nvSpPr>
            <p:cNvPr id="88" name="Google Shape;88;p1"/>
            <p:cNvSpPr/>
            <p:nvPr/>
          </p:nvSpPr>
          <p:spPr>
            <a:xfrm>
              <a:off x="571500" y="381000"/>
              <a:ext cx="1714500" cy="342900"/>
            </a:xfrm>
            <a:prstGeom prst="roundRect">
              <a:avLst>
                <a:gd fmla="val 50000" name="adj"/>
              </a:avLst>
            </a:prstGeom>
            <a:solidFill>
              <a:srgbClr val="00D2FF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"/>
            <p:cNvSpPr txBox="1"/>
            <p:nvPr/>
          </p:nvSpPr>
          <p:spPr>
            <a:xfrm>
              <a:off x="571500" y="381000"/>
              <a:ext cx="1714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CopadoCON 2026</a:t>
              </a:r>
              <a:endParaRPr b="1" sz="11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571500" y="857250"/>
              <a:ext cx="57150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612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copado-hx</a:t>
              </a:r>
              <a:endParaRPr b="0" sz="612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91" name="Google Shape;91;p1"/>
            <p:cNvSpPr txBox="1"/>
            <p:nvPr/>
          </p:nvSpPr>
          <p:spPr>
            <a:xfrm>
              <a:off x="571500" y="1905000"/>
              <a:ext cx="5715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2960">
                  <a:solidFill>
                    <a:srgbClr val="00D2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Headless Salesforce DevOps</a:t>
              </a:r>
              <a:endParaRPr b="0" sz="2960">
                <a:solidFill>
                  <a:srgbClr val="00D2FF"/>
                </a:solidFill>
                <a:latin typeface="Inter Light"/>
                <a:ea typeface="Inter Light"/>
                <a:cs typeface="Inter Light"/>
                <a:sym typeface="Inter Light"/>
              </a:endParaRPr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571500" y="2571750"/>
              <a:ext cx="762000" cy="38100"/>
            </a:xfrm>
            <a:prstGeom prst="rect">
              <a:avLst/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1"/>
          <p:cNvSpPr txBox="1"/>
          <p:nvPr/>
        </p:nvSpPr>
        <p:spPr>
          <a:xfrm>
            <a:off x="571500" y="2857500"/>
            <a:ext cx="3810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A0A2BA"/>
                </a:solidFill>
                <a:latin typeface="Inter"/>
                <a:ea typeface="Inter"/>
                <a:cs typeface="Inter"/>
                <a:sym typeface="Inter"/>
              </a:rPr>
              <a:t>Track B · Agentic Orchestrator</a:t>
            </a:r>
            <a:endParaRPr b="0" sz="1800">
              <a:solidFill>
                <a:srgbClr val="A0A2BA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Ravalika Bommera</a:t>
            </a:r>
            <a:endParaRPr b="0" sz="1800">
              <a:solidFill>
                <a:srgbClr val="FFFFFF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Kartheek Dasari</a:t>
            </a:r>
            <a:endParaRPr b="0" sz="1800">
              <a:solidFill>
                <a:srgbClr val="FFFFFF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grpSp>
        <p:nvGrpSpPr>
          <p:cNvPr id="94" name="Google Shape;94;p1"/>
          <p:cNvGrpSpPr/>
          <p:nvPr/>
        </p:nvGrpSpPr>
        <p:grpSpPr>
          <a:xfrm>
            <a:off x="6858000" y="1333500"/>
            <a:ext cx="5143500" cy="3238500"/>
            <a:chOff x="6858000" y="1333500"/>
            <a:chExt cx="5143500" cy="3238500"/>
          </a:xfrm>
        </p:grpSpPr>
        <p:grpSp>
          <p:nvGrpSpPr>
            <p:cNvPr id="95" name="Google Shape;95;p1"/>
            <p:cNvGrpSpPr/>
            <p:nvPr/>
          </p:nvGrpSpPr>
          <p:grpSpPr>
            <a:xfrm>
              <a:off x="6858000" y="1333500"/>
              <a:ext cx="2476500" cy="1524000"/>
              <a:chOff x="6858000" y="1333500"/>
              <a:chExt cx="2476500" cy="1524000"/>
            </a:xfrm>
          </p:grpSpPr>
          <p:sp>
            <p:nvSpPr>
              <p:cNvPr id="96" name="Google Shape;96;p1"/>
              <p:cNvSpPr/>
              <p:nvPr/>
            </p:nvSpPr>
            <p:spPr>
              <a:xfrm>
                <a:off x="6858000" y="1333500"/>
                <a:ext cx="2476500" cy="1524000"/>
              </a:xfrm>
              <a:prstGeom prst="roundRect">
                <a:avLst>
                  <a:gd fmla="val 12500" name="adj"/>
                </a:avLst>
              </a:prstGeom>
              <a:solidFill>
                <a:srgbClr val="1F2138">
                  <a:alpha val="60000"/>
                </a:srgbClr>
              </a:solidFill>
              <a:ln cap="flat" cmpd="sng" w="9525">
                <a:solidFill>
                  <a:srgbClr val="2D2F4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7" name="Google Shape;97;p1"/>
              <p:cNvSpPr txBox="1"/>
              <p:nvPr/>
            </p:nvSpPr>
            <p:spPr>
              <a:xfrm>
                <a:off x="6858000" y="1333500"/>
                <a:ext cx="24765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4200">
                    <a:solidFill>
                      <a:srgbClr val="00D2FF"/>
                    </a:solidFill>
                    <a:latin typeface="Inter"/>
                    <a:ea typeface="Inter"/>
                    <a:cs typeface="Inter"/>
                    <a:sym typeface="Inter"/>
                  </a:rPr>
                  <a:t>17</a:t>
                </a:r>
                <a:endParaRPr b="1" sz="42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ctr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b="0" lang="en-US" sz="14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CLI Commands</a:t>
                </a:r>
                <a:endParaRPr b="0" sz="1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98" name="Google Shape;98;p1"/>
            <p:cNvGrpSpPr/>
            <p:nvPr/>
          </p:nvGrpSpPr>
          <p:grpSpPr>
            <a:xfrm>
              <a:off x="9525000" y="1333500"/>
              <a:ext cx="2476500" cy="1524000"/>
              <a:chOff x="9525000" y="1333500"/>
              <a:chExt cx="2476500" cy="1524000"/>
            </a:xfrm>
          </p:grpSpPr>
          <p:sp>
            <p:nvSpPr>
              <p:cNvPr id="99" name="Google Shape;99;p1"/>
              <p:cNvSpPr/>
              <p:nvPr/>
            </p:nvSpPr>
            <p:spPr>
              <a:xfrm>
                <a:off x="9525000" y="1333500"/>
                <a:ext cx="2476500" cy="1524000"/>
              </a:xfrm>
              <a:prstGeom prst="roundRect">
                <a:avLst>
                  <a:gd fmla="val 12500" name="adj"/>
                </a:avLst>
              </a:prstGeom>
              <a:solidFill>
                <a:srgbClr val="1F2138">
                  <a:alpha val="60000"/>
                </a:srgbClr>
              </a:solidFill>
              <a:ln cap="flat" cmpd="sng" w="9525">
                <a:solidFill>
                  <a:srgbClr val="2D2F4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" name="Google Shape;100;p1"/>
              <p:cNvSpPr txBox="1"/>
              <p:nvPr/>
            </p:nvSpPr>
            <p:spPr>
              <a:xfrm>
                <a:off x="9525000" y="1333500"/>
                <a:ext cx="24765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4200">
                    <a:solidFill>
                      <a:srgbClr val="00D2FF"/>
                    </a:solidFill>
                    <a:latin typeface="Inter"/>
                    <a:ea typeface="Inter"/>
                    <a:cs typeface="Inter"/>
                    <a:sym typeface="Inter"/>
                  </a:rPr>
                  <a:t>3</a:t>
                </a:r>
                <a:endParaRPr b="1" sz="42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ctr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b="0" lang="en-US" sz="14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API Surfaces</a:t>
                </a:r>
                <a:endParaRPr b="0" sz="1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101" name="Google Shape;101;p1"/>
            <p:cNvGrpSpPr/>
            <p:nvPr/>
          </p:nvGrpSpPr>
          <p:grpSpPr>
            <a:xfrm>
              <a:off x="6858000" y="3048000"/>
              <a:ext cx="2476500" cy="1524000"/>
              <a:chOff x="6858000" y="3048000"/>
              <a:chExt cx="2476500" cy="1524000"/>
            </a:xfrm>
          </p:grpSpPr>
          <p:sp>
            <p:nvSpPr>
              <p:cNvPr id="102" name="Google Shape;102;p1"/>
              <p:cNvSpPr/>
              <p:nvPr/>
            </p:nvSpPr>
            <p:spPr>
              <a:xfrm>
                <a:off x="6858000" y="3048000"/>
                <a:ext cx="2476500" cy="1524000"/>
              </a:xfrm>
              <a:prstGeom prst="roundRect">
                <a:avLst>
                  <a:gd fmla="val 12500" name="adj"/>
                </a:avLst>
              </a:prstGeom>
              <a:solidFill>
                <a:srgbClr val="1F2138">
                  <a:alpha val="60000"/>
                </a:srgbClr>
              </a:solidFill>
              <a:ln cap="flat" cmpd="sng" w="9525">
                <a:solidFill>
                  <a:srgbClr val="2D2F4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3" name="Google Shape;103;p1"/>
              <p:cNvSpPr txBox="1"/>
              <p:nvPr/>
            </p:nvSpPr>
            <p:spPr>
              <a:xfrm>
                <a:off x="6858000" y="3048000"/>
                <a:ext cx="24765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4200">
                    <a:solidFill>
                      <a:srgbClr val="00D2FF"/>
                    </a:solidFill>
                    <a:latin typeface="Inter"/>
                    <a:ea typeface="Inter"/>
                    <a:cs typeface="Inter"/>
                    <a:sym typeface="Inter"/>
                  </a:rPr>
                  <a:t>34</a:t>
                </a:r>
                <a:endParaRPr b="1" sz="42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ctr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b="0" lang="en-US" sz="14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Source Files</a:t>
                </a:r>
                <a:endParaRPr b="0" sz="1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104" name="Google Shape;104;p1"/>
            <p:cNvGrpSpPr/>
            <p:nvPr/>
          </p:nvGrpSpPr>
          <p:grpSpPr>
            <a:xfrm>
              <a:off x="9525000" y="3048000"/>
              <a:ext cx="2476500" cy="1524000"/>
              <a:chOff x="9525000" y="3048000"/>
              <a:chExt cx="2476500" cy="1524000"/>
            </a:xfrm>
          </p:grpSpPr>
          <p:sp>
            <p:nvSpPr>
              <p:cNvPr id="105" name="Google Shape;105;p1"/>
              <p:cNvSpPr/>
              <p:nvPr/>
            </p:nvSpPr>
            <p:spPr>
              <a:xfrm>
                <a:off x="9525000" y="3048000"/>
                <a:ext cx="2476500" cy="1524000"/>
              </a:xfrm>
              <a:prstGeom prst="roundRect">
                <a:avLst>
                  <a:gd fmla="val 12500" name="adj"/>
                </a:avLst>
              </a:prstGeom>
              <a:solidFill>
                <a:srgbClr val="1F2138">
                  <a:alpha val="60000"/>
                </a:srgbClr>
              </a:solidFill>
              <a:ln cap="flat" cmpd="sng" w="9525">
                <a:solidFill>
                  <a:srgbClr val="2D2F48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" name="Google Shape;106;p1"/>
              <p:cNvSpPr txBox="1"/>
              <p:nvPr/>
            </p:nvSpPr>
            <p:spPr>
              <a:xfrm>
                <a:off x="9525000" y="3048000"/>
                <a:ext cx="2476500" cy="15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4200">
                    <a:solidFill>
                      <a:srgbClr val="00D2FF"/>
                    </a:solidFill>
                    <a:latin typeface="Inter"/>
                    <a:ea typeface="Inter"/>
                    <a:cs typeface="Inter"/>
                    <a:sym typeface="Inter"/>
                  </a:rPr>
                  <a:t>1</a:t>
                </a:r>
                <a:endParaRPr b="1" sz="42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ctr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b="0" lang="en-US" sz="1400">
                    <a:solidFill>
                      <a:srgbClr val="FFFFFF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MCP Server</a:t>
                </a:r>
                <a:endParaRPr b="0" sz="1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</p:grpSp>
      <p:grpSp>
        <p:nvGrpSpPr>
          <p:cNvPr id="107" name="Google Shape;107;p1"/>
          <p:cNvGrpSpPr/>
          <p:nvPr/>
        </p:nvGrpSpPr>
        <p:grpSpPr>
          <a:xfrm>
            <a:off x="0" y="6381750"/>
            <a:ext cx="12192000" cy="476400"/>
            <a:chOff x="0" y="6381750"/>
            <a:chExt cx="12192000" cy="476400"/>
          </a:xfrm>
        </p:grpSpPr>
        <p:sp>
          <p:nvSpPr>
            <p:cNvPr id="108" name="Google Shape;108;p1"/>
            <p:cNvSpPr/>
            <p:nvPr/>
          </p:nvSpPr>
          <p:spPr>
            <a:xfrm>
              <a:off x="0" y="6381750"/>
              <a:ext cx="12192000" cy="476400"/>
            </a:xfrm>
            <a:prstGeom prst="rect">
              <a:avLst/>
            </a:prstGeom>
            <a:solidFill>
              <a:srgbClr val="0A0B16">
                <a:alpha val="8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"/>
            <p:cNvSpPr txBox="1"/>
            <p:nvPr/>
          </p:nvSpPr>
          <p:spPr>
            <a:xfrm>
              <a:off x="571500" y="6381750"/>
              <a:ext cx="3810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6B6D82"/>
                  </a:solidFill>
                  <a:latin typeface="Inter"/>
                  <a:ea typeface="Inter"/>
                  <a:cs typeface="Inter"/>
                  <a:sym typeface="Inter"/>
                </a:rPr>
                <a:t>copado-hx · CopadoCON Bangalore 2026</a:t>
              </a:r>
              <a:endParaRPr b="0" sz="10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0" name="Google Shape;110;p1"/>
            <p:cNvSpPr txBox="1"/>
            <p:nvPr/>
          </p:nvSpPr>
          <p:spPr>
            <a:xfrm>
              <a:off x="4191000" y="6381750"/>
              <a:ext cx="3810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● ○ ○ ○ ○ ○ ○</a:t>
              </a:r>
              <a:endParaRPr b="0" sz="10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111" name="Google Shape;111;p1"/>
            <p:cNvSpPr txBox="1"/>
            <p:nvPr/>
          </p:nvSpPr>
          <p:spPr>
            <a:xfrm>
              <a:off x="10858500" y="6381750"/>
              <a:ext cx="762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6B6D82"/>
                  </a:solidFill>
                  <a:latin typeface="Inter"/>
                  <a:ea typeface="Inter"/>
                  <a:cs typeface="Inter"/>
                  <a:sym typeface="Inter"/>
                </a:rPr>
                <a:t>1</a:t>
              </a:r>
              <a:endParaRPr b="0" sz="10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oogle Shape;116;p2"/>
          <p:cNvGrpSpPr/>
          <p:nvPr/>
        </p:nvGrpSpPr>
        <p:grpSpPr>
          <a:xfrm>
            <a:off x="-952500" y="-476250"/>
            <a:ext cx="13811250" cy="8096250"/>
            <a:chOff x="-952500" y="-476250"/>
            <a:chExt cx="13811250" cy="8096250"/>
          </a:xfrm>
        </p:grpSpPr>
        <p:sp>
          <p:nvSpPr>
            <p:cNvPr id="117" name="Google Shape;117;p2"/>
            <p:cNvSpPr/>
            <p:nvPr/>
          </p:nvSpPr>
          <p:spPr>
            <a:xfrm rot="10800000">
              <a:off x="0" y="0"/>
              <a:ext cx="7620000" cy="6858000"/>
            </a:xfrm>
            <a:prstGeom prst="rtTriangle">
              <a:avLst/>
            </a:prstGeom>
            <a:solidFill>
              <a:srgbClr val="13142B">
                <a:alpha val="5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10001250" y="-476250"/>
              <a:ext cx="2857500" cy="2857500"/>
            </a:xfrm>
            <a:prstGeom prst="ellipse">
              <a:avLst/>
            </a:prstGeom>
            <a:solidFill>
              <a:srgbClr val="00D2FF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-952500" y="3810000"/>
              <a:ext cx="3810000" cy="3810000"/>
            </a:xfrm>
            <a:prstGeom prst="ellipse">
              <a:avLst/>
            </a:prstGeom>
            <a:solidFill>
              <a:srgbClr val="7C3AED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0" name="Google Shape;120;p2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D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762000" y="476250"/>
            <a:ext cx="10058400" cy="62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7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1" sz="407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762000" y="1095375"/>
            <a:ext cx="10058400" cy="307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Salesforce DevOps is fragmented across multiple browser tabs</a:t>
            </a:r>
            <a:endParaRPr b="0" sz="20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"/>
          <p:cNvSpPr/>
          <p:nvPr/>
        </p:nvSpPr>
        <p:spPr>
          <a:xfrm>
            <a:off x="0" y="6446520"/>
            <a:ext cx="12191700" cy="411600"/>
          </a:xfrm>
          <a:prstGeom prst="rect">
            <a:avLst/>
          </a:prstGeom>
          <a:solidFill>
            <a:srgbClr val="1617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762000" y="1476375"/>
            <a:ext cx="1905000" cy="38100"/>
          </a:xfrm>
          <a:prstGeom prst="rect">
            <a:avLst/>
          </a:prstGeom>
          <a:solidFill>
            <a:srgbClr val="00D2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"/>
          <p:cNvSpPr txBox="1"/>
          <p:nvPr/>
        </p:nvSpPr>
        <p:spPr>
          <a:xfrm>
            <a:off x="548640" y="6473952"/>
            <a:ext cx="4572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copado-hx  ·  CopadoCON Bangalore 2026</a:t>
            </a:r>
            <a:endParaRPr/>
          </a:p>
        </p:txBody>
      </p:sp>
      <p:grpSp>
        <p:nvGrpSpPr>
          <p:cNvPr id="126" name="Google Shape;126;p2"/>
          <p:cNvGrpSpPr/>
          <p:nvPr/>
        </p:nvGrpSpPr>
        <p:grpSpPr>
          <a:xfrm>
            <a:off x="762000" y="1809750"/>
            <a:ext cx="11001525" cy="3238500"/>
            <a:chOff x="762000" y="1809750"/>
            <a:chExt cx="11001525" cy="3238500"/>
          </a:xfrm>
        </p:grpSpPr>
        <p:sp>
          <p:nvSpPr>
            <p:cNvPr id="127" name="Google Shape;127;p2"/>
            <p:cNvSpPr/>
            <p:nvPr/>
          </p:nvSpPr>
          <p:spPr>
            <a:xfrm>
              <a:off x="762000" y="1809750"/>
              <a:ext cx="2571900" cy="3238500"/>
            </a:xfrm>
            <a:prstGeom prst="roundRect">
              <a:avLst>
                <a:gd fmla="val 5925" name="adj"/>
              </a:avLst>
            </a:prstGeom>
            <a:solidFill>
              <a:srgbClr val="1F2138"/>
            </a:solidFill>
            <a:ln cap="flat" cmpd="sng" w="9525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"/>
            <p:cNvSpPr txBox="1"/>
            <p:nvPr/>
          </p:nvSpPr>
          <p:spPr>
            <a:xfrm>
              <a:off x="762000" y="1809750"/>
              <a:ext cx="2571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Context Switching</a:t>
              </a:r>
              <a:endPara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CI/CD in Lightning, robots in CRT, AI in Context Hub — 3 separate UIs</a:t>
              </a:r>
              <a:endParaRPr b="0" sz="13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2"/>
            <p:cNvSpPr/>
            <p:nvPr/>
          </p:nvSpPr>
          <p:spPr>
            <a:xfrm>
              <a:off x="3571875" y="1809750"/>
              <a:ext cx="2571900" cy="3238500"/>
            </a:xfrm>
            <a:prstGeom prst="roundRect">
              <a:avLst>
                <a:gd fmla="val 5925" name="adj"/>
              </a:avLst>
            </a:prstGeom>
            <a:solidFill>
              <a:srgbClr val="1F2138"/>
            </a:solidFill>
            <a:ln cap="flat" cmpd="sng" w="9525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2"/>
            <p:cNvSpPr txBox="1"/>
            <p:nvPr/>
          </p:nvSpPr>
          <p:spPr>
            <a:xfrm>
              <a:off x="3571875" y="1809750"/>
              <a:ext cx="2571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Manual Pipelines</a:t>
              </a:r>
              <a:endPara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Every commit, test, deploy needs human clicking through screens</a:t>
              </a:r>
              <a:endParaRPr b="0" sz="13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6381750" y="1809750"/>
              <a:ext cx="2571900" cy="3238500"/>
            </a:xfrm>
            <a:prstGeom prst="roundRect">
              <a:avLst>
                <a:gd fmla="val 5925" name="adj"/>
              </a:avLst>
            </a:prstGeom>
            <a:solidFill>
              <a:srgbClr val="1F2138"/>
            </a:solidFill>
            <a:ln cap="flat" cmpd="sng" w="9525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2"/>
            <p:cNvSpPr txBox="1"/>
            <p:nvPr/>
          </p:nvSpPr>
          <p:spPr>
            <a:xfrm>
              <a:off x="6381750" y="1809750"/>
              <a:ext cx="2571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Fragmented APIs</a:t>
              </a:r>
              <a:endPara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Each surface has different auth, different endpoints, different SDKs</a:t>
              </a:r>
              <a:endParaRPr b="0" sz="13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3" name="Google Shape;133;p2"/>
            <p:cNvSpPr/>
            <p:nvPr/>
          </p:nvSpPr>
          <p:spPr>
            <a:xfrm>
              <a:off x="9191625" y="1809750"/>
              <a:ext cx="2571900" cy="3238500"/>
            </a:xfrm>
            <a:prstGeom prst="roundRect">
              <a:avLst>
                <a:gd fmla="val 5925" name="adj"/>
              </a:avLst>
            </a:prstGeom>
            <a:solidFill>
              <a:srgbClr val="1F2138"/>
            </a:solidFill>
            <a:ln cap="flat" cmpd="sng" w="9525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"/>
            <p:cNvSpPr txBox="1"/>
            <p:nvPr/>
          </p:nvSpPr>
          <p:spPr>
            <a:xfrm>
              <a:off x="9191625" y="1809750"/>
              <a:ext cx="25719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38125" lIns="238125" spcFirstLastPara="1" rIns="238125" wrap="square" tIns="2381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04</a:t>
              </a:r>
              <a:endParaRPr b="1" sz="2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1" lang="en-US" sz="20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Slow Releases</a:t>
              </a:r>
              <a:endParaRPr b="1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Browser-heavy workflow slows from cognitive overload</a:t>
              </a:r>
              <a:endParaRPr b="0" sz="13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5" name="Google Shape;135;p2"/>
          <p:cNvSpPr txBox="1"/>
          <p:nvPr/>
        </p:nvSpPr>
        <p:spPr>
          <a:xfrm>
            <a:off x="5029200" y="6473952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9BBF"/>
                </a:solidFill>
                <a:latin typeface="Calibri"/>
                <a:ea typeface="Calibri"/>
                <a:cs typeface="Calibri"/>
                <a:sym typeface="Calibri"/>
              </a:rPr>
              <a:t>●  ○  ○  ○  ○  ○  ○  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11277295" y="6473952"/>
            <a:ext cx="731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grpSp>
        <p:nvGrpSpPr>
          <p:cNvPr id="137" name="Google Shape;137;p2"/>
          <p:cNvGrpSpPr/>
          <p:nvPr/>
        </p:nvGrpSpPr>
        <p:grpSpPr>
          <a:xfrm>
            <a:off x="762000" y="5334000"/>
            <a:ext cx="11001300" cy="762000"/>
            <a:chOff x="762000" y="5334000"/>
            <a:chExt cx="11001300" cy="762000"/>
          </a:xfrm>
        </p:grpSpPr>
        <p:sp>
          <p:nvSpPr>
            <p:cNvPr id="138" name="Google Shape;138;p2"/>
            <p:cNvSpPr/>
            <p:nvPr/>
          </p:nvSpPr>
          <p:spPr>
            <a:xfrm>
              <a:off x="762000" y="5334000"/>
              <a:ext cx="11001300" cy="762000"/>
            </a:xfrm>
            <a:prstGeom prst="roundRect">
              <a:avLst>
                <a:gd fmla="val 50000" name="adj"/>
              </a:avLst>
            </a:prstGeom>
            <a:solidFill>
              <a:srgbClr val="00D2FF">
                <a:alpha val="10000"/>
              </a:srgbClr>
            </a:solidFill>
            <a:ln cap="flat" cmpd="sng" w="19050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9" name="Google Shape;139;p2"/>
            <p:cNvSpPr txBox="1"/>
            <p:nvPr/>
          </p:nvSpPr>
          <p:spPr>
            <a:xfrm>
              <a:off x="762000" y="5334000"/>
              <a:ext cx="11001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D700"/>
                  </a:solidFill>
                  <a:latin typeface="Calibri"/>
                  <a:ea typeface="Calibri"/>
                  <a:cs typeface="Calibri"/>
                  <a:sym typeface="Calibri"/>
                </a:rPr>
                <a:t>✦ </a:t>
              </a:r>
              <a:r>
                <a:rPr b="1" lang="en-US" sz="2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One CLI. One Agent. Zero Browser Tabs.</a:t>
              </a:r>
              <a:r>
                <a:rPr b="1" lang="en-US" sz="2800">
                  <a:solidFill>
                    <a:srgbClr val="FFD700"/>
                  </a:solidFill>
                  <a:latin typeface="Calibri"/>
                  <a:ea typeface="Calibri"/>
                  <a:cs typeface="Calibri"/>
                  <a:sym typeface="Calibri"/>
                </a:rPr>
                <a:t> ✦</a:t>
              </a:r>
              <a:endParaRPr b="1" sz="2800">
                <a:solidFill>
                  <a:srgbClr val="FFD7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Google Shape;144;p3"/>
          <p:cNvGrpSpPr/>
          <p:nvPr/>
        </p:nvGrpSpPr>
        <p:grpSpPr>
          <a:xfrm>
            <a:off x="-2857500" y="-1905000"/>
            <a:ext cx="17145000" cy="11620500"/>
            <a:chOff x="-2857500" y="-1905000"/>
            <a:chExt cx="17145000" cy="11620500"/>
          </a:xfrm>
        </p:grpSpPr>
        <p:sp>
          <p:nvSpPr>
            <p:cNvPr id="145" name="Google Shape;145;p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A1B2F">
                <a:alpha val="5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146" name="Google Shape;146;p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8763000" y="4572000"/>
              <a:ext cx="381000" cy="5715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7" name="Google Shape;147;p3"/>
            <p:cNvSpPr/>
            <p:nvPr/>
          </p:nvSpPr>
          <p:spPr>
            <a:xfrm>
              <a:off x="8572500" y="-1905000"/>
              <a:ext cx="5715000" cy="5715000"/>
            </a:xfrm>
            <a:prstGeom prst="ellipse">
              <a:avLst/>
            </a:prstGeom>
            <a:solidFill>
              <a:srgbClr val="00D2FF">
                <a:alpha val="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-2857500" y="2095500"/>
              <a:ext cx="7620000" cy="7620000"/>
            </a:xfrm>
            <a:prstGeom prst="ellipse">
              <a:avLst/>
            </a:prstGeom>
            <a:solidFill>
              <a:srgbClr val="7C3AED">
                <a:alpha val="2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9" name="Google Shape;149;p3"/>
          <p:cNvSpPr/>
          <p:nvPr/>
        </p:nvSpPr>
        <p:spPr>
          <a:xfrm>
            <a:off x="0" y="0"/>
            <a:ext cx="73200" cy="6858000"/>
          </a:xfrm>
          <a:prstGeom prst="rect">
            <a:avLst/>
          </a:prstGeom>
          <a:solidFill>
            <a:srgbClr val="00D2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640080" y="411480"/>
            <a:ext cx="10058400" cy="554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b" bIns="0" lIns="9525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copado-hx at a Glance</a:t>
            </a:r>
            <a:endParaRPr b="1" sz="3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40080" y="1005840"/>
            <a:ext cx="100584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34 files · 14 command groups · 17 tests</a:t>
            </a:r>
            <a:endParaRPr b="0" sz="18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/>
          <p:nvPr/>
        </p:nvSpPr>
        <p:spPr>
          <a:xfrm>
            <a:off x="0" y="6446520"/>
            <a:ext cx="12192000" cy="411600"/>
          </a:xfrm>
          <a:prstGeom prst="rect">
            <a:avLst/>
          </a:prstGeom>
          <a:solidFill>
            <a:srgbClr val="0A0B16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548640" y="6473952"/>
            <a:ext cx="4572000" cy="1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1425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copado-hx · CopadoCON Bangalore 2026</a:t>
            </a:r>
            <a:endParaRPr b="0" sz="900">
              <a:solidFill>
                <a:srgbClr val="6B6D8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3"/>
          <p:cNvSpPr txBox="1"/>
          <p:nvPr/>
        </p:nvSpPr>
        <p:spPr>
          <a:xfrm>
            <a:off x="5029200" y="6473952"/>
            <a:ext cx="2743200" cy="123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800">
                <a:solidFill>
                  <a:srgbClr val="009BBF"/>
                </a:solidFill>
                <a:latin typeface="Calibri"/>
                <a:ea typeface="Calibri"/>
                <a:cs typeface="Calibri"/>
                <a:sym typeface="Calibri"/>
              </a:rPr>
              <a:t>● ● ○ ○ ○ ○ ○</a:t>
            </a:r>
            <a:endParaRPr b="0" sz="800">
              <a:solidFill>
                <a:srgbClr val="009BB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11277314" y="6473952"/>
            <a:ext cx="731400" cy="1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91425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sz="900">
              <a:solidFill>
                <a:srgbClr val="6B6D8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640080" y="1714500"/>
            <a:ext cx="1777500" cy="2381400"/>
          </a:xfrm>
          <a:prstGeom prst="roundRect">
            <a:avLst>
              <a:gd fmla="val 10718" name="adj"/>
            </a:avLst>
          </a:prstGeom>
          <a:solidFill>
            <a:srgbClr val="1F213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3"/>
          <p:cNvSpPr/>
          <p:nvPr/>
        </p:nvSpPr>
        <p:spPr>
          <a:xfrm>
            <a:off x="1185863" y="1943100"/>
            <a:ext cx="685800" cy="685800"/>
          </a:xfrm>
          <a:prstGeom prst="ellipse">
            <a:avLst/>
          </a:prstGeom>
          <a:solidFill>
            <a:srgbClr val="00D2FF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A1B2F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1" sz="2600">
              <a:solidFill>
                <a:srgbClr val="1A1B2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3"/>
          <p:cNvSpPr txBox="1"/>
          <p:nvPr/>
        </p:nvSpPr>
        <p:spPr>
          <a:xfrm>
            <a:off x="735330" y="2857500"/>
            <a:ext cx="1587000" cy="52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Command</a:t>
            </a:r>
            <a:b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Groups</a:t>
            </a:r>
            <a:endParaRPr b="1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3"/>
          <p:cNvSpPr/>
          <p:nvPr/>
        </p:nvSpPr>
        <p:spPr>
          <a:xfrm>
            <a:off x="2531745" y="1714500"/>
            <a:ext cx="1777500" cy="2381400"/>
          </a:xfrm>
          <a:prstGeom prst="roundRect">
            <a:avLst>
              <a:gd fmla="val 10718" name="adj"/>
            </a:avLst>
          </a:prstGeom>
          <a:solidFill>
            <a:srgbClr val="1F213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3"/>
          <p:cNvSpPr/>
          <p:nvPr/>
        </p:nvSpPr>
        <p:spPr>
          <a:xfrm>
            <a:off x="3077528" y="1943100"/>
            <a:ext cx="685800" cy="685800"/>
          </a:xfrm>
          <a:prstGeom prst="ellipse">
            <a:avLst/>
          </a:prstGeom>
          <a:solidFill>
            <a:srgbClr val="7C3AED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3"/>
          <p:cNvSpPr txBox="1"/>
          <p:nvPr/>
        </p:nvSpPr>
        <p:spPr>
          <a:xfrm>
            <a:off x="2626995" y="2857500"/>
            <a:ext cx="1587000" cy="52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MCP</a:t>
            </a:r>
            <a:b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Tools</a:t>
            </a:r>
            <a:endParaRPr b="1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/>
          <p:nvPr/>
        </p:nvSpPr>
        <p:spPr>
          <a:xfrm>
            <a:off x="4423410" y="1714500"/>
            <a:ext cx="1777500" cy="2381400"/>
          </a:xfrm>
          <a:prstGeom prst="roundRect">
            <a:avLst>
              <a:gd fmla="val 10718" name="adj"/>
            </a:avLst>
          </a:prstGeom>
          <a:solidFill>
            <a:srgbClr val="1F213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3"/>
          <p:cNvSpPr/>
          <p:nvPr/>
        </p:nvSpPr>
        <p:spPr>
          <a:xfrm>
            <a:off x="4969193" y="1943100"/>
            <a:ext cx="685800" cy="685800"/>
          </a:xfrm>
          <a:prstGeom prst="ellipse">
            <a:avLst/>
          </a:prstGeom>
          <a:solidFill>
            <a:srgbClr val="50FA7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A1B2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2600">
              <a:solidFill>
                <a:srgbClr val="1A1B2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3"/>
          <p:cNvSpPr txBox="1"/>
          <p:nvPr/>
        </p:nvSpPr>
        <p:spPr>
          <a:xfrm>
            <a:off x="4518660" y="2857500"/>
            <a:ext cx="1587000" cy="52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API</a:t>
            </a:r>
            <a:b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Surfaces</a:t>
            </a:r>
            <a:endParaRPr b="1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3"/>
          <p:cNvSpPr/>
          <p:nvPr/>
        </p:nvSpPr>
        <p:spPr>
          <a:xfrm>
            <a:off x="6315075" y="1714500"/>
            <a:ext cx="1777500" cy="2381400"/>
          </a:xfrm>
          <a:prstGeom prst="roundRect">
            <a:avLst>
              <a:gd fmla="val 10718" name="adj"/>
            </a:avLst>
          </a:prstGeom>
          <a:solidFill>
            <a:srgbClr val="1F213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3"/>
          <p:cNvSpPr/>
          <p:nvPr/>
        </p:nvSpPr>
        <p:spPr>
          <a:xfrm>
            <a:off x="6860858" y="1943100"/>
            <a:ext cx="685800" cy="685800"/>
          </a:xfrm>
          <a:prstGeom prst="ellipse">
            <a:avLst/>
          </a:prstGeom>
          <a:solidFill>
            <a:srgbClr val="FFB86C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A1B2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1" sz="2600">
              <a:solidFill>
                <a:srgbClr val="1A1B2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3"/>
          <p:cNvSpPr txBox="1"/>
          <p:nvPr/>
        </p:nvSpPr>
        <p:spPr>
          <a:xfrm>
            <a:off x="6410325" y="2857500"/>
            <a:ext cx="1587000" cy="52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Specialist</a:t>
            </a:r>
            <a:b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Agents</a:t>
            </a:r>
            <a:endParaRPr b="1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3"/>
          <p:cNvSpPr/>
          <p:nvPr/>
        </p:nvSpPr>
        <p:spPr>
          <a:xfrm>
            <a:off x="8206740" y="1714500"/>
            <a:ext cx="1777500" cy="2381400"/>
          </a:xfrm>
          <a:prstGeom prst="roundRect">
            <a:avLst>
              <a:gd fmla="val 10718" name="adj"/>
            </a:avLst>
          </a:prstGeom>
          <a:solidFill>
            <a:srgbClr val="1F213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3"/>
          <p:cNvSpPr/>
          <p:nvPr/>
        </p:nvSpPr>
        <p:spPr>
          <a:xfrm>
            <a:off x="8752523" y="1943100"/>
            <a:ext cx="685800" cy="685800"/>
          </a:xfrm>
          <a:prstGeom prst="ellipse">
            <a:avLst/>
          </a:prstGeom>
          <a:solidFill>
            <a:srgbClr val="FF6B6B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3"/>
          <p:cNvSpPr txBox="1"/>
          <p:nvPr/>
        </p:nvSpPr>
        <p:spPr>
          <a:xfrm>
            <a:off x="8301990" y="2857500"/>
            <a:ext cx="1587000" cy="52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CI/CD</a:t>
            </a:r>
            <a:b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Environments</a:t>
            </a:r>
            <a:endParaRPr b="1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3"/>
          <p:cNvSpPr/>
          <p:nvPr/>
        </p:nvSpPr>
        <p:spPr>
          <a:xfrm>
            <a:off x="10098405" y="1714500"/>
            <a:ext cx="1777500" cy="2381400"/>
          </a:xfrm>
          <a:prstGeom prst="roundRect">
            <a:avLst>
              <a:gd fmla="val 10718" name="adj"/>
            </a:avLst>
          </a:prstGeom>
          <a:solidFill>
            <a:srgbClr val="1F213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"/>
          <p:cNvSpPr/>
          <p:nvPr/>
        </p:nvSpPr>
        <p:spPr>
          <a:xfrm>
            <a:off x="10644188" y="1943100"/>
            <a:ext cx="685800" cy="685800"/>
          </a:xfrm>
          <a:prstGeom prst="ellipse">
            <a:avLst/>
          </a:prstGeom>
          <a:solidFill>
            <a:srgbClr val="FFD70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A1B2F"/>
                </a:solidFill>
                <a:latin typeface="Calibri"/>
                <a:ea typeface="Calibri"/>
                <a:cs typeface="Calibri"/>
                <a:sym typeface="Calibri"/>
              </a:rPr>
              <a:t>29</a:t>
            </a:r>
            <a:endParaRPr b="1" sz="2600">
              <a:solidFill>
                <a:srgbClr val="1A1B2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3"/>
          <p:cNvSpPr txBox="1"/>
          <p:nvPr/>
        </p:nvSpPr>
        <p:spPr>
          <a:xfrm>
            <a:off x="10193655" y="2857500"/>
            <a:ext cx="1587000" cy="527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SKILL.md</a:t>
            </a:r>
            <a:b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Sections</a:t>
            </a:r>
            <a:endParaRPr b="1" sz="1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3"/>
          <p:cNvSpPr txBox="1"/>
          <p:nvPr/>
        </p:nvSpPr>
        <p:spPr>
          <a:xfrm>
            <a:off x="571500" y="4381500"/>
            <a:ext cx="11049000" cy="1456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190500" lIns="190500" spcFirstLastPara="1" rIns="190500" wrap="square" tIns="19050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D700"/>
                </a:solidFill>
                <a:highlight>
                  <a:srgbClr val="1F2138"/>
                </a:highlight>
                <a:latin typeface="Calibri"/>
                <a:ea typeface="Calibri"/>
                <a:cs typeface="Calibri"/>
                <a:sym typeface="Calibri"/>
              </a:rPr>
              <a:t>✦ No browser tab opened during the entire demo ✦</a:t>
            </a:r>
            <a:endParaRPr b="1" sz="2400">
              <a:solidFill>
                <a:srgbClr val="FFD700"/>
              </a:solidFill>
              <a:highlight>
                <a:srgbClr val="1F213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FFFFFF"/>
                </a:solidFill>
                <a:highlight>
                  <a:srgbClr val="1F2138"/>
                </a:highlight>
                <a:latin typeface="Calibri"/>
                <a:ea typeface="Calibri"/>
                <a:cs typeface="Calibri"/>
                <a:sym typeface="Calibri"/>
              </a:rPr>
              <a:t>Every command backed by real Copado API calls — no mock data, no fake output</a:t>
            </a:r>
            <a:endParaRPr b="0" sz="1600">
              <a:solidFill>
                <a:srgbClr val="FFFFFF"/>
              </a:solidFill>
              <a:highlight>
                <a:srgbClr val="1F213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A0A2BA"/>
                </a:solidFill>
                <a:highlight>
                  <a:srgbClr val="1F2138"/>
                </a:highlight>
                <a:latin typeface="Calibri"/>
                <a:ea typeface="Calibri"/>
                <a:cs typeface="Calibri"/>
                <a:sym typeface="Calibri"/>
              </a:rPr>
              <a:t>17 unit tests · pyflakes clean · single signed commit</a:t>
            </a:r>
            <a:endParaRPr b="0" sz="1400">
              <a:solidFill>
                <a:srgbClr val="A0A2BA"/>
              </a:solidFill>
              <a:highlight>
                <a:srgbClr val="1F2138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9" name="Google Shape;179;p4"/>
          <p:cNvGrpSpPr/>
          <p:nvPr/>
        </p:nvGrpSpPr>
        <p:grpSpPr>
          <a:xfrm>
            <a:off x="-1619250" y="-2095500"/>
            <a:ext cx="15906750" cy="10572750"/>
            <a:chOff x="-1619250" y="-2095500"/>
            <a:chExt cx="15906750" cy="10572750"/>
          </a:xfrm>
        </p:grpSpPr>
        <p:sp>
          <p:nvSpPr>
            <p:cNvPr id="180" name="Google Shape;180;p4"/>
            <p:cNvSpPr/>
            <p:nvPr/>
          </p:nvSpPr>
          <p:spPr>
            <a:xfrm>
              <a:off x="8572500" y="-2095500"/>
              <a:ext cx="5715000" cy="5715000"/>
            </a:xfrm>
            <a:prstGeom prst="ellipse">
              <a:avLst/>
            </a:prstGeom>
            <a:solidFill>
              <a:srgbClr val="00D2FF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4"/>
            <p:cNvSpPr/>
            <p:nvPr/>
          </p:nvSpPr>
          <p:spPr>
            <a:xfrm>
              <a:off x="-1619250" y="3714750"/>
              <a:ext cx="4762500" cy="4762500"/>
            </a:xfrm>
            <a:prstGeom prst="ellipse">
              <a:avLst/>
            </a:prstGeom>
            <a:solidFill>
              <a:srgbClr val="7C3AED">
                <a:alpha val="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2" name="Google Shape;182;p4"/>
          <p:cNvSpPr txBox="1"/>
          <p:nvPr/>
        </p:nvSpPr>
        <p:spPr>
          <a:xfrm>
            <a:off x="571500" y="381000"/>
            <a:ext cx="10058400" cy="47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9525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6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b="1" sz="306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 txBox="1"/>
          <p:nvPr/>
        </p:nvSpPr>
        <p:spPr>
          <a:xfrm>
            <a:off x="571500" y="857250"/>
            <a:ext cx="10058400" cy="27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rPr>
              <a:t>3 Copado API surfaces · 1 unified CLI · Any MCP-compatible agent</a:t>
            </a:r>
            <a:endParaRPr b="0" sz="1800">
              <a:solidFill>
                <a:srgbClr val="00D2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4" name="Google Shape;184;p4"/>
          <p:cNvGrpSpPr/>
          <p:nvPr/>
        </p:nvGrpSpPr>
        <p:grpSpPr>
          <a:xfrm>
            <a:off x="571500" y="1381125"/>
            <a:ext cx="11049000" cy="952500"/>
            <a:chOff x="571500" y="1381125"/>
            <a:chExt cx="11049000" cy="952500"/>
          </a:xfrm>
        </p:grpSpPr>
        <p:sp>
          <p:nvSpPr>
            <p:cNvPr id="185" name="Google Shape;185;p4"/>
            <p:cNvSpPr/>
            <p:nvPr/>
          </p:nvSpPr>
          <p:spPr>
            <a:xfrm>
              <a:off x="571500" y="1381125"/>
              <a:ext cx="11049000" cy="952500"/>
            </a:xfrm>
            <a:prstGeom prst="roundRect">
              <a:avLst>
                <a:gd fmla="val 12000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4"/>
            <p:cNvSpPr txBox="1"/>
            <p:nvPr/>
          </p:nvSpPr>
          <p:spPr>
            <a:xfrm>
              <a:off x="762000" y="1476375"/>
              <a:ext cx="10668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copado-hx CLI</a:t>
              </a:r>
              <a:endParaRPr b="1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4"/>
            <p:cNvSpPr txBox="1"/>
            <p:nvPr/>
          </p:nvSpPr>
          <p:spPr>
            <a:xfrm>
              <a:off x="762000" y="1809750"/>
              <a:ext cx="10668000" cy="42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C0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auth · story list/show/set/create · commit · promote · deploy · validate · status · workflow list/run · test list/run/status/results · ai ask/chat · environments · mcp · config</a:t>
              </a:r>
              <a:endParaRPr b="0" sz="1100">
                <a:solidFill>
                  <a:srgbClr val="C0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</p:grpSp>
      <p:sp>
        <p:nvSpPr>
          <p:cNvPr id="188" name="Google Shape;188;p4"/>
          <p:cNvSpPr/>
          <p:nvPr/>
        </p:nvSpPr>
        <p:spPr>
          <a:xfrm>
            <a:off x="0" y="6446520"/>
            <a:ext cx="12191700" cy="411600"/>
          </a:xfrm>
          <a:prstGeom prst="rect">
            <a:avLst/>
          </a:prstGeom>
          <a:solidFill>
            <a:srgbClr val="1617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9" name="Google Shape;189;p4"/>
          <p:cNvGrpSpPr/>
          <p:nvPr/>
        </p:nvGrpSpPr>
        <p:grpSpPr>
          <a:xfrm>
            <a:off x="571500" y="2476500"/>
            <a:ext cx="11049000" cy="1619100"/>
            <a:chOff x="571500" y="2476500"/>
            <a:chExt cx="11049000" cy="1619100"/>
          </a:xfrm>
        </p:grpSpPr>
        <p:sp>
          <p:nvSpPr>
            <p:cNvPr id="190" name="Google Shape;190;p4"/>
            <p:cNvSpPr/>
            <p:nvPr/>
          </p:nvSpPr>
          <p:spPr>
            <a:xfrm>
              <a:off x="571500" y="2476500"/>
              <a:ext cx="2095500" cy="16191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14300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4"/>
            <p:cNvSpPr txBox="1"/>
            <p:nvPr/>
          </p:nvSpPr>
          <p:spPr>
            <a:xfrm>
              <a:off x="714375" y="2619375"/>
              <a:ext cx="180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Actions API</a:t>
              </a:r>
              <a:endParaRPr b="1" sz="14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4"/>
            <p:cNvSpPr txBox="1"/>
            <p:nvPr/>
          </p:nvSpPr>
          <p:spPr>
            <a:xfrm>
              <a:off x="714375" y="3000375"/>
              <a:ext cx="180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CI/CD Pipeline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RunJobTemplate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3 Job Templates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3" name="Google Shape;193;p4"/>
            <p:cNvSpPr/>
            <p:nvPr/>
          </p:nvSpPr>
          <p:spPr>
            <a:xfrm>
              <a:off x="2809875" y="2476500"/>
              <a:ext cx="2095500" cy="16191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14300">
              <a:solidFill>
                <a:srgbClr val="7C3A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4" name="Google Shape;194;p4"/>
            <p:cNvSpPr txBox="1"/>
            <p:nvPr/>
          </p:nvSpPr>
          <p:spPr>
            <a:xfrm>
              <a:off x="2952750" y="2619375"/>
              <a:ext cx="180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7C3AED"/>
                  </a:solidFill>
                  <a:latin typeface="Calibri"/>
                  <a:ea typeface="Calibri"/>
                  <a:cs typeface="Calibri"/>
                  <a:sym typeface="Calibri"/>
                </a:rPr>
                <a:t>SF REST API</a:t>
              </a:r>
              <a:endParaRPr b="1" sz="14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" name="Google Shape;195;p4"/>
            <p:cNvSpPr txBox="1"/>
            <p:nvPr/>
          </p:nvSpPr>
          <p:spPr>
            <a:xfrm>
              <a:off x="2952750" y="3000375"/>
              <a:ext cx="180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User Stories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Environments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Job Status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6" name="Google Shape;196;p4"/>
            <p:cNvSpPr/>
            <p:nvPr/>
          </p:nvSpPr>
          <p:spPr>
            <a:xfrm>
              <a:off x="5048250" y="2476500"/>
              <a:ext cx="2095500" cy="16191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14300">
              <a:solidFill>
                <a:srgbClr val="50FA7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4"/>
            <p:cNvSpPr txBox="1"/>
            <p:nvPr/>
          </p:nvSpPr>
          <p:spPr>
            <a:xfrm>
              <a:off x="5191125" y="2619375"/>
              <a:ext cx="180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50FA7B"/>
                  </a:solidFill>
                  <a:latin typeface="Calibri"/>
                  <a:ea typeface="Calibri"/>
                  <a:cs typeface="Calibri"/>
                  <a:sym typeface="Calibri"/>
                </a:rPr>
                <a:t>AI Platform</a:t>
              </a:r>
              <a:endParaRPr b="1" sz="1400">
                <a:solidFill>
                  <a:srgbClr val="50FA7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8" name="Google Shape;198;p4"/>
            <p:cNvSpPr txBox="1"/>
            <p:nvPr/>
          </p:nvSpPr>
          <p:spPr>
            <a:xfrm>
              <a:off x="5191125" y="3000375"/>
              <a:ext cx="180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Workflow List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Workflow Run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9" name="Google Shape;199;p4"/>
            <p:cNvSpPr/>
            <p:nvPr/>
          </p:nvSpPr>
          <p:spPr>
            <a:xfrm>
              <a:off x="7286625" y="2476500"/>
              <a:ext cx="2095500" cy="16191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14300">
              <a:solidFill>
                <a:srgbClr val="FFB86C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0" name="Google Shape;200;p4"/>
            <p:cNvSpPr txBox="1"/>
            <p:nvPr/>
          </p:nvSpPr>
          <p:spPr>
            <a:xfrm>
              <a:off x="7429500" y="2619375"/>
              <a:ext cx="180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B86C"/>
                  </a:solidFill>
                  <a:latin typeface="Calibri"/>
                  <a:ea typeface="Calibri"/>
                  <a:cs typeface="Calibri"/>
                  <a:sym typeface="Calibri"/>
                </a:rPr>
                <a:t>CRT API</a:t>
              </a:r>
              <a:endParaRPr b="1" sz="1400">
                <a:solidFill>
                  <a:srgbClr val="FFB86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4"/>
            <p:cNvSpPr txBox="1"/>
            <p:nvPr/>
          </p:nvSpPr>
          <p:spPr>
            <a:xfrm>
              <a:off x="7429500" y="3000375"/>
              <a:ext cx="180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Test Jobs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Build Trigger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Results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2" name="Google Shape;202;p4"/>
            <p:cNvSpPr/>
            <p:nvPr/>
          </p:nvSpPr>
          <p:spPr>
            <a:xfrm>
              <a:off x="9525000" y="2476500"/>
              <a:ext cx="2095500" cy="16191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14300">
              <a:solidFill>
                <a:srgbClr val="FF6B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4"/>
            <p:cNvSpPr txBox="1"/>
            <p:nvPr/>
          </p:nvSpPr>
          <p:spPr>
            <a:xfrm>
              <a:off x="9667875" y="2619375"/>
              <a:ext cx="18096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6B6B"/>
                  </a:solidFill>
                  <a:latin typeface="Calibri"/>
                  <a:ea typeface="Calibri"/>
                  <a:cs typeface="Calibri"/>
                  <a:sym typeface="Calibri"/>
                </a:rPr>
                <a:t>Context Hub</a:t>
              </a:r>
              <a:endParaRPr b="1" sz="14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4" name="Google Shape;204;p4"/>
            <p:cNvSpPr txBox="1"/>
            <p:nvPr/>
          </p:nvSpPr>
          <p:spPr>
            <a:xfrm>
              <a:off x="9667875" y="3000375"/>
              <a:ext cx="18096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AI Agents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Plan/Build/Test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Release/Operate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5" name="Google Shape;205;p4"/>
          <p:cNvSpPr txBox="1"/>
          <p:nvPr/>
        </p:nvSpPr>
        <p:spPr>
          <a:xfrm>
            <a:off x="548640" y="6473952"/>
            <a:ext cx="4572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copado-hx  ·  CopadoCON Bangalore 2026</a:t>
            </a:r>
            <a:endParaRPr/>
          </a:p>
        </p:txBody>
      </p:sp>
      <p:grpSp>
        <p:nvGrpSpPr>
          <p:cNvPr id="206" name="Google Shape;206;p4"/>
          <p:cNvGrpSpPr/>
          <p:nvPr/>
        </p:nvGrpSpPr>
        <p:grpSpPr>
          <a:xfrm>
            <a:off x="571500" y="4238625"/>
            <a:ext cx="11049150" cy="1047900"/>
            <a:chOff x="571500" y="4238625"/>
            <a:chExt cx="11049150" cy="1047900"/>
          </a:xfrm>
        </p:grpSpPr>
        <p:sp>
          <p:nvSpPr>
            <p:cNvPr id="207" name="Google Shape;207;p4"/>
            <p:cNvSpPr/>
            <p:nvPr/>
          </p:nvSpPr>
          <p:spPr>
            <a:xfrm>
              <a:off x="571500" y="4238625"/>
              <a:ext cx="5429400" cy="1047900"/>
            </a:xfrm>
            <a:prstGeom prst="roundRect">
              <a:avLst>
                <a:gd fmla="val 10909" name="adj"/>
              </a:avLst>
            </a:prstGeom>
            <a:solidFill>
              <a:srgbClr val="23253D"/>
            </a:solidFill>
            <a:ln cap="flat" cmpd="sng" w="19050">
              <a:solidFill>
                <a:srgbClr val="7C3AED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8" name="Google Shape;208;p4"/>
            <p:cNvSpPr txBox="1"/>
            <p:nvPr/>
          </p:nvSpPr>
          <p:spPr>
            <a:xfrm>
              <a:off x="762000" y="4381500"/>
              <a:ext cx="50484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7C3AED"/>
                  </a:solidFill>
                  <a:latin typeface="Calibri"/>
                  <a:ea typeface="Calibri"/>
                  <a:cs typeface="Calibri"/>
                  <a:sym typeface="Calibri"/>
                </a:rPr>
                <a:t>MCP Server</a:t>
              </a:r>
              <a:endParaRPr b="1" sz="1500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4"/>
            <p:cNvSpPr txBox="1"/>
            <p:nvPr/>
          </p:nvSpPr>
          <p:spPr>
            <a:xfrm>
              <a:off x="762000" y="4667250"/>
              <a:ext cx="50484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17 FastMCP tools — any MCP-compatible agent (Claude Code, Cursor, VS Code) discovers natively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0" name="Google Shape;210;p4"/>
            <p:cNvSpPr/>
            <p:nvPr/>
          </p:nvSpPr>
          <p:spPr>
            <a:xfrm>
              <a:off x="6191250" y="4238625"/>
              <a:ext cx="5429400" cy="1047900"/>
            </a:xfrm>
            <a:prstGeom prst="roundRect">
              <a:avLst>
                <a:gd fmla="val 10909" name="adj"/>
              </a:avLst>
            </a:prstGeom>
            <a:solidFill>
              <a:srgbClr val="23253D"/>
            </a:solidFill>
            <a:ln cap="flat" cmpd="sng" w="19050">
              <a:solidFill>
                <a:srgbClr val="50FA7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4"/>
            <p:cNvSpPr txBox="1"/>
            <p:nvPr/>
          </p:nvSpPr>
          <p:spPr>
            <a:xfrm>
              <a:off x="6381750" y="4381500"/>
              <a:ext cx="50484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500">
                  <a:solidFill>
                    <a:srgbClr val="50FA7B"/>
                  </a:solidFill>
                  <a:latin typeface="Calibri"/>
                  <a:ea typeface="Calibri"/>
                  <a:cs typeface="Calibri"/>
                  <a:sym typeface="Calibri"/>
                </a:rPr>
                <a:t>SKILL.md</a:t>
              </a:r>
              <a:endParaRPr b="1" sz="1500">
                <a:solidFill>
                  <a:srgbClr val="50FA7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4"/>
            <p:cNvSpPr txBox="1"/>
            <p:nvPr/>
          </p:nvSpPr>
          <p:spPr>
            <a:xfrm>
              <a:off x="6381750" y="4667250"/>
              <a:ext cx="50484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29 sections, 5 playbooks, 9 guardrails — any AI assistant loads full operational context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3" name="Google Shape;213;p4"/>
          <p:cNvSpPr txBox="1"/>
          <p:nvPr/>
        </p:nvSpPr>
        <p:spPr>
          <a:xfrm>
            <a:off x="5029200" y="6473952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9BBF"/>
                </a:solidFill>
                <a:latin typeface="Calibri"/>
                <a:ea typeface="Calibri"/>
                <a:cs typeface="Calibri"/>
                <a:sym typeface="Calibri"/>
              </a:rPr>
              <a:t>●  ●  ●  ○  ○  ○  ○  </a:t>
            </a:r>
            <a:endParaRPr/>
          </a:p>
        </p:txBody>
      </p:sp>
      <p:sp>
        <p:nvSpPr>
          <p:cNvPr id="214" name="Google Shape;214;p4"/>
          <p:cNvSpPr txBox="1"/>
          <p:nvPr/>
        </p:nvSpPr>
        <p:spPr>
          <a:xfrm>
            <a:off x="11277295" y="6473952"/>
            <a:ext cx="731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9" name="Google Shape;219;p5"/>
          <p:cNvGrpSpPr/>
          <p:nvPr/>
        </p:nvGrpSpPr>
        <p:grpSpPr>
          <a:xfrm>
            <a:off x="638175" y="409575"/>
            <a:ext cx="10058400" cy="1009650"/>
            <a:chOff x="638175" y="409575"/>
            <a:chExt cx="10058400" cy="1009650"/>
          </a:xfrm>
        </p:grpSpPr>
        <p:sp>
          <p:nvSpPr>
            <p:cNvPr id="220" name="Google Shape;220;p5"/>
            <p:cNvSpPr txBox="1"/>
            <p:nvPr/>
          </p:nvSpPr>
          <p:spPr>
            <a:xfrm>
              <a:off x="638175" y="409575"/>
              <a:ext cx="10058400" cy="552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b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CI/CD Pipeline + Robotic Testing</a:t>
              </a:r>
              <a:endParaRPr b="1" sz="3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1" name="Google Shape;221;p5"/>
            <p:cNvSpPr txBox="1"/>
            <p:nvPr/>
          </p:nvSpPr>
          <p:spPr>
            <a:xfrm>
              <a:off x="638175" y="1000125"/>
              <a:ext cx="10058400" cy="285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Actions API for delivery · CRT API for quality</a:t>
              </a:r>
              <a:endParaRPr b="0" sz="1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2" name="Google Shape;222;p5"/>
            <p:cNvSpPr/>
            <p:nvPr/>
          </p:nvSpPr>
          <p:spPr>
            <a:xfrm>
              <a:off x="733425" y="1381125"/>
              <a:ext cx="1905000" cy="38100"/>
            </a:xfrm>
            <a:prstGeom prst="rect">
              <a:avLst/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3" name="Google Shape;223;p5"/>
          <p:cNvGrpSpPr/>
          <p:nvPr/>
        </p:nvGrpSpPr>
        <p:grpSpPr>
          <a:xfrm>
            <a:off x="571500" y="1714500"/>
            <a:ext cx="5334000" cy="4381500"/>
            <a:chOff x="571500" y="1714500"/>
            <a:chExt cx="5334000" cy="4381500"/>
          </a:xfrm>
        </p:grpSpPr>
        <p:sp>
          <p:nvSpPr>
            <p:cNvPr id="224" name="Google Shape;224;p5"/>
            <p:cNvSpPr/>
            <p:nvPr/>
          </p:nvSpPr>
          <p:spPr>
            <a:xfrm>
              <a:off x="571500" y="1714500"/>
              <a:ext cx="5334000" cy="4381500"/>
            </a:xfrm>
            <a:prstGeom prst="roundRect">
              <a:avLst>
                <a:gd fmla="val 4347" name="adj"/>
              </a:avLst>
            </a:prstGeom>
            <a:solidFill>
              <a:srgbClr val="1F2138"/>
            </a:solidFill>
            <a:ln cap="flat" cmpd="sng" w="14300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5"/>
            <p:cNvSpPr txBox="1"/>
            <p:nvPr/>
          </p:nvSpPr>
          <p:spPr>
            <a:xfrm>
              <a:off x="857250" y="1905000"/>
              <a:ext cx="4762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0D2FF"/>
                  </a:solidFill>
                  <a:latin typeface="Calibri"/>
                  <a:ea typeface="Calibri"/>
                  <a:cs typeface="Calibri"/>
                  <a:sym typeface="Calibri"/>
                </a:rPr>
                <a:t>Copado Actions API</a:t>
              </a:r>
              <a:endParaRPr b="1" sz="1800">
                <a:solidFill>
                  <a:srgbClr val="00D2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6" name="Google Shape;226;p5"/>
            <p:cNvSpPr/>
            <p:nvPr/>
          </p:nvSpPr>
          <p:spPr>
            <a:xfrm>
              <a:off x="857250" y="2333625"/>
              <a:ext cx="4762500" cy="2857500"/>
            </a:xfrm>
            <a:prstGeom prst="roundRect">
              <a:avLst>
                <a:gd fmla="val 5000" name="adj"/>
              </a:avLst>
            </a:prstGeom>
            <a:solidFill>
              <a:srgbClr val="161728"/>
            </a:solidFill>
            <a:ln cap="flat" cmpd="sng" w="14300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5"/>
            <p:cNvSpPr txBox="1"/>
            <p:nvPr/>
          </p:nvSpPr>
          <p:spPr>
            <a:xfrm>
              <a:off x="952500" y="2428875"/>
              <a:ext cx="4572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95250" lIns="95250" spcFirstLastPara="1" rIns="95250" wrap="square" tIns="95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story set a1vhk000...P01AAE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OK Working context set to: US-0000024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commit -m "feat: lead scoring"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OK Commit triggered: JE=a0shk0000...WqPAAU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promote --env UAT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OK Promotion to UAT triggered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OK Job execution: a0shk0000...Yg1AAE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deploy --env PROD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FFB86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[?] You are about to deploy to PRODUCTION. Continue? [y/N]:</a:t>
              </a:r>
              <a:endParaRPr sz="1000">
                <a:solidFill>
                  <a:srgbClr val="FFB86C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FF6B6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Deployment cancelled</a:t>
              </a:r>
              <a:endParaRPr sz="1000">
                <a:solidFill>
                  <a:srgbClr val="FF6B6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  <p:sp>
          <p:nvSpPr>
            <p:cNvPr id="228" name="Google Shape;228;p5"/>
            <p:cNvSpPr/>
            <p:nvPr/>
          </p:nvSpPr>
          <p:spPr>
            <a:xfrm>
              <a:off x="1095375" y="5429250"/>
              <a:ext cx="4286400" cy="381000"/>
            </a:xfrm>
            <a:prstGeom prst="roundRect">
              <a:avLst>
                <a:gd fmla="val 50000" name="adj"/>
              </a:avLst>
            </a:prstGeom>
            <a:solidFill>
              <a:srgbClr val="3A1F1F"/>
            </a:solidFill>
            <a:ln cap="flat" cmpd="sng" w="14300">
              <a:solidFill>
                <a:srgbClr val="FF6B6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6B6B"/>
                  </a:solidFill>
                  <a:latin typeface="Calibri"/>
                  <a:ea typeface="Calibri"/>
                  <a:cs typeface="Calibri"/>
                  <a:sym typeface="Calibri"/>
                </a:rPr>
                <a:t>⚠ Human approval gate for PROD deployments</a:t>
              </a:r>
              <a:endParaRPr b="1" sz="1100">
                <a:solidFill>
                  <a:srgbClr val="FF6B6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9" name="Google Shape;229;p5"/>
          <p:cNvGrpSpPr/>
          <p:nvPr/>
        </p:nvGrpSpPr>
        <p:grpSpPr>
          <a:xfrm>
            <a:off x="6286500" y="1714500"/>
            <a:ext cx="5334000" cy="4381500"/>
            <a:chOff x="6286500" y="1714500"/>
            <a:chExt cx="5334000" cy="4381500"/>
          </a:xfrm>
        </p:grpSpPr>
        <p:sp>
          <p:nvSpPr>
            <p:cNvPr id="230" name="Google Shape;230;p5"/>
            <p:cNvSpPr/>
            <p:nvPr/>
          </p:nvSpPr>
          <p:spPr>
            <a:xfrm>
              <a:off x="6286500" y="1714500"/>
              <a:ext cx="5334000" cy="4381500"/>
            </a:xfrm>
            <a:prstGeom prst="roundRect">
              <a:avLst>
                <a:gd fmla="val 4347" name="adj"/>
              </a:avLst>
            </a:prstGeom>
            <a:solidFill>
              <a:srgbClr val="1F2138"/>
            </a:solidFill>
            <a:ln cap="flat" cmpd="sng" w="14300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5"/>
            <p:cNvSpPr txBox="1"/>
            <p:nvPr/>
          </p:nvSpPr>
          <p:spPr>
            <a:xfrm>
              <a:off x="6572250" y="1905000"/>
              <a:ext cx="47625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FFB86C"/>
                  </a:solidFill>
                  <a:latin typeface="Calibri"/>
                  <a:ea typeface="Calibri"/>
                  <a:cs typeface="Calibri"/>
                  <a:sym typeface="Calibri"/>
                </a:rPr>
                <a:t>Copado Robotic Testing (CRT)</a:t>
              </a:r>
              <a:endParaRPr b="1" sz="1800">
                <a:solidFill>
                  <a:srgbClr val="FFB86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232;p5"/>
            <p:cNvSpPr/>
            <p:nvPr/>
          </p:nvSpPr>
          <p:spPr>
            <a:xfrm>
              <a:off x="6572250" y="2333625"/>
              <a:ext cx="4762500" cy="2857500"/>
            </a:xfrm>
            <a:prstGeom prst="roundRect">
              <a:avLst>
                <a:gd fmla="val 5000" name="adj"/>
              </a:avLst>
            </a:prstGeom>
            <a:solidFill>
              <a:srgbClr val="161728"/>
            </a:solidFill>
            <a:ln cap="flat" cmpd="sng" w="14300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5"/>
            <p:cNvSpPr txBox="1"/>
            <p:nvPr/>
          </p:nvSpPr>
          <p:spPr>
            <a:xfrm>
              <a:off x="6667500" y="2428875"/>
              <a:ext cx="4572000" cy="2667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95250" lIns="95250" spcFirstLastPara="1" rIns="95250" wrap="square" tIns="95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test list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╭────────┬────────────────╮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│ Job ID │ Name │</a:t>
              </a:r>
              <a:endParaRPr sz="100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├────────┼────────────────┤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│ 120561 │ CLI-Target-Job │</a:t>
              </a:r>
              <a:endParaRPr sz="1000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╰────────┴────────────────╯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test run --job 120561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OK Test execution triggered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A0A2B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OK Execution ID: 5247552</a:t>
              </a:r>
              <a:endParaRPr sz="1000">
                <a:solidFill>
                  <a:srgbClr val="A0A2B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test status --execution 5247552 --watch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FFB86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→ Polling... Status: In Progress</a:t>
              </a:r>
              <a:endParaRPr sz="1000">
                <a:solidFill>
                  <a:srgbClr val="FFB86C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→ Polling... Status: Succeeded</a:t>
              </a:r>
              <a:endParaRPr sz="1000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  <p:sp>
          <p:nvSpPr>
            <p:cNvPr id="234" name="Google Shape;234;p5"/>
            <p:cNvSpPr txBox="1"/>
            <p:nvPr/>
          </p:nvSpPr>
          <p:spPr>
            <a:xfrm>
              <a:off x="6667500" y="5429250"/>
              <a:ext cx="4572000" cy="38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A0A2BA"/>
                  </a:solidFill>
                  <a:latin typeface="Calibri"/>
                  <a:ea typeface="Calibri"/>
                  <a:cs typeface="Calibri"/>
                  <a:sym typeface="Calibri"/>
                </a:rPr>
                <a:t>JUnit results · PDF reports · Live polling</a:t>
              </a:r>
              <a:endParaRPr b="0" sz="1100">
                <a:solidFill>
                  <a:srgbClr val="A0A2BA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5" name="Google Shape;235;p5"/>
          <p:cNvSpPr/>
          <p:nvPr/>
        </p:nvSpPr>
        <p:spPr>
          <a:xfrm>
            <a:off x="0" y="6446520"/>
            <a:ext cx="12191700" cy="411600"/>
          </a:xfrm>
          <a:prstGeom prst="rect">
            <a:avLst/>
          </a:prstGeom>
          <a:solidFill>
            <a:srgbClr val="1617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5"/>
          <p:cNvSpPr txBox="1"/>
          <p:nvPr/>
        </p:nvSpPr>
        <p:spPr>
          <a:xfrm>
            <a:off x="548640" y="6473952"/>
            <a:ext cx="4572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copado-hx  ·  CopadoCON Bangalore 2026</a:t>
            </a:r>
            <a:endParaRPr/>
          </a:p>
        </p:txBody>
      </p:sp>
      <p:sp>
        <p:nvSpPr>
          <p:cNvPr id="237" name="Google Shape;237;p5"/>
          <p:cNvSpPr txBox="1"/>
          <p:nvPr/>
        </p:nvSpPr>
        <p:spPr>
          <a:xfrm>
            <a:off x="5029200" y="6473952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9BBF"/>
                </a:solidFill>
                <a:latin typeface="Calibri"/>
                <a:ea typeface="Calibri"/>
                <a:cs typeface="Calibri"/>
                <a:sym typeface="Calibri"/>
              </a:rPr>
              <a:t>●  ●  ●  ●  ○  ○  ○  </a:t>
            </a:r>
            <a:endParaRPr/>
          </a:p>
        </p:txBody>
      </p:sp>
      <p:sp>
        <p:nvSpPr>
          <p:cNvPr id="238" name="Google Shape;238;p5"/>
          <p:cNvSpPr txBox="1"/>
          <p:nvPr/>
        </p:nvSpPr>
        <p:spPr>
          <a:xfrm>
            <a:off x="11277295" y="6473952"/>
            <a:ext cx="731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3" name="Google Shape;243;p6"/>
          <p:cNvGrpSpPr/>
          <p:nvPr/>
        </p:nvGrpSpPr>
        <p:grpSpPr>
          <a:xfrm>
            <a:off x="0" y="0"/>
            <a:ext cx="12192000" cy="1333500"/>
            <a:chOff x="0" y="0"/>
            <a:chExt cx="12192000" cy="1333500"/>
          </a:xfrm>
        </p:grpSpPr>
        <p:sp>
          <p:nvSpPr>
            <p:cNvPr id="244" name="Google Shape;244;p6"/>
            <p:cNvSpPr/>
            <p:nvPr/>
          </p:nvSpPr>
          <p:spPr>
            <a:xfrm>
              <a:off x="0" y="0"/>
              <a:ext cx="12192000" cy="1333500"/>
            </a:xfrm>
            <a:prstGeom prst="rect">
              <a:avLst/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6"/>
            <p:cNvSpPr txBox="1"/>
            <p:nvPr/>
          </p:nvSpPr>
          <p:spPr>
            <a:xfrm>
              <a:off x="638175" y="333375"/>
              <a:ext cx="10058400" cy="5010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50">
                  <a:solidFill>
                    <a:srgbClr val="FFFFFF"/>
                  </a:solidFill>
                  <a:latin typeface="Oswald"/>
                  <a:ea typeface="Oswald"/>
                  <a:cs typeface="Oswald"/>
                  <a:sym typeface="Oswald"/>
                </a:rPr>
                <a:t>AI Agents + MCP Server</a:t>
              </a:r>
              <a:endParaRPr b="1" sz="32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  <p:sp>
          <p:nvSpPr>
            <p:cNvPr id="246" name="Google Shape;246;p6"/>
            <p:cNvSpPr txBox="1"/>
            <p:nvPr/>
          </p:nvSpPr>
          <p:spPr>
            <a:xfrm>
              <a:off x="638175" y="809625"/>
              <a:ext cx="10058400" cy="2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Copado Context Hub · Agentic tool discovery</a:t>
              </a:r>
              <a:endParaRPr b="0" sz="18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47" name="Google Shape;247;p6"/>
          <p:cNvGrpSpPr/>
          <p:nvPr/>
        </p:nvGrpSpPr>
        <p:grpSpPr>
          <a:xfrm>
            <a:off x="0" y="0"/>
            <a:ext cx="12192000" cy="1333500"/>
            <a:chOff x="0" y="0"/>
            <a:chExt cx="12192000" cy="1333500"/>
          </a:xfrm>
        </p:grpSpPr>
        <p:sp>
          <p:nvSpPr>
            <p:cNvPr id="248" name="Google Shape;248;p6"/>
            <p:cNvSpPr/>
            <p:nvPr/>
          </p:nvSpPr>
          <p:spPr>
            <a:xfrm>
              <a:off x="0" y="0"/>
              <a:ext cx="12192000" cy="1333500"/>
            </a:xfrm>
            <a:prstGeom prst="rect">
              <a:avLst/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6"/>
            <p:cNvSpPr txBox="1"/>
            <p:nvPr/>
          </p:nvSpPr>
          <p:spPr>
            <a:xfrm>
              <a:off x="638175" y="333375"/>
              <a:ext cx="10058400" cy="4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50">
                  <a:solidFill>
                    <a:srgbClr val="FFFFFF"/>
                  </a:solidFill>
                  <a:latin typeface="Oswald"/>
                  <a:ea typeface="Oswald"/>
                  <a:cs typeface="Oswald"/>
                  <a:sym typeface="Oswald"/>
                </a:rPr>
                <a:t>AI Agents + MCP Server</a:t>
              </a:r>
              <a:endParaRPr b="1" sz="3250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endParaRPr>
            </a:p>
          </p:txBody>
        </p:sp>
        <p:sp>
          <p:nvSpPr>
            <p:cNvPr id="250" name="Google Shape;250;p6"/>
            <p:cNvSpPr txBox="1"/>
            <p:nvPr/>
          </p:nvSpPr>
          <p:spPr>
            <a:xfrm>
              <a:off x="638175" y="809625"/>
              <a:ext cx="10058400" cy="276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9525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Copado Context Hub · Agentic tool discovery</a:t>
              </a:r>
              <a:endParaRPr b="0" sz="18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51" name="Google Shape;251;p6"/>
          <p:cNvGrpSpPr/>
          <p:nvPr/>
        </p:nvGrpSpPr>
        <p:grpSpPr>
          <a:xfrm>
            <a:off x="638175" y="1476375"/>
            <a:ext cx="10915800" cy="1047900"/>
            <a:chOff x="638175" y="1476375"/>
            <a:chExt cx="10915800" cy="1047900"/>
          </a:xfrm>
        </p:grpSpPr>
        <p:sp>
          <p:nvSpPr>
            <p:cNvPr id="252" name="Google Shape;252;p6"/>
            <p:cNvSpPr/>
            <p:nvPr/>
          </p:nvSpPr>
          <p:spPr>
            <a:xfrm>
              <a:off x="638175" y="1476375"/>
              <a:ext cx="10915800" cy="1047900"/>
            </a:xfrm>
            <a:prstGeom prst="roundRect">
              <a:avLst>
                <a:gd fmla="val 10909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6"/>
            <p:cNvSpPr/>
            <p:nvPr/>
          </p:nvSpPr>
          <p:spPr>
            <a:xfrm>
              <a:off x="1352550" y="1638300"/>
              <a:ext cx="533400" cy="53340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6"/>
            <p:cNvSpPr txBox="1"/>
            <p:nvPr/>
          </p:nvSpPr>
          <p:spPr>
            <a:xfrm>
              <a:off x="1352550" y="1638300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P</a:t>
              </a:r>
              <a:endParaRPr b="1" sz="1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5" name="Google Shape;255;p6"/>
            <p:cNvSpPr txBox="1"/>
            <p:nvPr/>
          </p:nvSpPr>
          <p:spPr>
            <a:xfrm>
              <a:off x="1143000" y="2190750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60A5FA"/>
                  </a:solidFill>
                  <a:latin typeface="Inter"/>
                  <a:ea typeface="Inter"/>
                  <a:cs typeface="Inter"/>
                  <a:sym typeface="Inter"/>
                </a:rPr>
                <a:t>Plan</a:t>
              </a:r>
              <a:endParaRPr b="1" sz="1000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Story &amp; Scope</a:t>
              </a:r>
              <a:endParaRPr b="0" sz="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6" name="Google Shape;256;p6"/>
            <p:cNvSpPr/>
            <p:nvPr/>
          </p:nvSpPr>
          <p:spPr>
            <a:xfrm>
              <a:off x="3638550" y="1638300"/>
              <a:ext cx="533400" cy="533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6"/>
            <p:cNvSpPr txBox="1"/>
            <p:nvPr/>
          </p:nvSpPr>
          <p:spPr>
            <a:xfrm>
              <a:off x="3638550" y="1638300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B</a:t>
              </a:r>
              <a:endParaRPr b="1" sz="1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8" name="Google Shape;258;p6"/>
            <p:cNvSpPr txBox="1"/>
            <p:nvPr/>
          </p:nvSpPr>
          <p:spPr>
            <a:xfrm>
              <a:off x="3429000" y="2190750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34D399"/>
                  </a:solidFill>
                  <a:latin typeface="Inter"/>
                  <a:ea typeface="Inter"/>
                  <a:cs typeface="Inter"/>
                  <a:sym typeface="Inter"/>
                </a:rPr>
                <a:t>Build</a:t>
              </a:r>
              <a:endParaRPr b="1" sz="1000">
                <a:solidFill>
                  <a:srgbClr val="34D399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Apex Gen</a:t>
              </a:r>
              <a:endParaRPr b="0" sz="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59" name="Google Shape;259;p6"/>
            <p:cNvSpPr/>
            <p:nvPr/>
          </p:nvSpPr>
          <p:spPr>
            <a:xfrm>
              <a:off x="5924550" y="1638300"/>
              <a:ext cx="533400" cy="533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0" name="Google Shape;260;p6"/>
            <p:cNvSpPr txBox="1"/>
            <p:nvPr/>
          </p:nvSpPr>
          <p:spPr>
            <a:xfrm>
              <a:off x="5924550" y="1638300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T</a:t>
              </a:r>
              <a:endParaRPr b="1" sz="1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1" name="Google Shape;261;p6"/>
            <p:cNvSpPr txBox="1"/>
            <p:nvPr/>
          </p:nvSpPr>
          <p:spPr>
            <a:xfrm>
              <a:off x="5715000" y="2190750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BBF24"/>
                  </a:solidFill>
                  <a:latin typeface="Inter"/>
                  <a:ea typeface="Inter"/>
                  <a:cs typeface="Inter"/>
                  <a:sym typeface="Inter"/>
                </a:rPr>
                <a:t>Test</a:t>
              </a:r>
              <a:endParaRPr b="1" sz="1000">
                <a:solidFill>
                  <a:srgbClr val="FBBF2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Scripts &amp; Cov</a:t>
              </a:r>
              <a:endParaRPr b="0" sz="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2" name="Google Shape;262;p6"/>
            <p:cNvSpPr/>
            <p:nvPr/>
          </p:nvSpPr>
          <p:spPr>
            <a:xfrm>
              <a:off x="8210550" y="1638300"/>
              <a:ext cx="533400" cy="533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3" name="Google Shape;263;p6"/>
            <p:cNvSpPr txBox="1"/>
            <p:nvPr/>
          </p:nvSpPr>
          <p:spPr>
            <a:xfrm>
              <a:off x="8210550" y="1638300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R</a:t>
              </a:r>
              <a:endParaRPr b="1" sz="1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4" name="Google Shape;264;p6"/>
            <p:cNvSpPr txBox="1"/>
            <p:nvPr/>
          </p:nvSpPr>
          <p:spPr>
            <a:xfrm>
              <a:off x="8001000" y="2190750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F87171"/>
                  </a:solidFill>
                  <a:latin typeface="Inter"/>
                  <a:ea typeface="Inter"/>
                  <a:cs typeface="Inter"/>
                  <a:sym typeface="Inter"/>
                </a:rPr>
                <a:t>Release</a:t>
              </a:r>
              <a:endParaRPr b="1" sz="1000">
                <a:solidFill>
                  <a:srgbClr val="F87171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Coordination</a:t>
              </a:r>
              <a:endParaRPr b="0" sz="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5" name="Google Shape;265;p6"/>
            <p:cNvSpPr/>
            <p:nvPr/>
          </p:nvSpPr>
          <p:spPr>
            <a:xfrm>
              <a:off x="10306050" y="1638300"/>
              <a:ext cx="533400" cy="533400"/>
            </a:xfrm>
            <a:prstGeom prst="ellipse">
              <a:avLst/>
            </a:prstGeom>
            <a:solidFill>
              <a:srgbClr val="8B5C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6"/>
            <p:cNvSpPr txBox="1"/>
            <p:nvPr/>
          </p:nvSpPr>
          <p:spPr>
            <a:xfrm>
              <a:off x="10306050" y="1638300"/>
              <a:ext cx="533400" cy="533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O</a:t>
              </a:r>
              <a:endParaRPr b="1" sz="1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67" name="Google Shape;267;p6"/>
            <p:cNvSpPr txBox="1"/>
            <p:nvPr/>
          </p:nvSpPr>
          <p:spPr>
            <a:xfrm>
              <a:off x="10096500" y="2190750"/>
              <a:ext cx="95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A78BFA"/>
                  </a:solidFill>
                  <a:latin typeface="Inter"/>
                  <a:ea typeface="Inter"/>
                  <a:cs typeface="Inter"/>
                  <a:sym typeface="Inter"/>
                </a:rPr>
                <a:t>Operate</a:t>
              </a:r>
              <a:endParaRPr b="1" sz="1000">
                <a:solidFill>
                  <a:srgbClr val="A78BF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8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Change Mgmt</a:t>
              </a:r>
              <a:endParaRPr b="0" sz="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68" name="Google Shape;268;p6"/>
          <p:cNvGrpSpPr/>
          <p:nvPr/>
        </p:nvGrpSpPr>
        <p:grpSpPr>
          <a:xfrm>
            <a:off x="638175" y="2714625"/>
            <a:ext cx="5334000" cy="3571800"/>
            <a:chOff x="638175" y="2714625"/>
            <a:chExt cx="5334000" cy="3571800"/>
          </a:xfrm>
        </p:grpSpPr>
        <p:sp>
          <p:nvSpPr>
            <p:cNvPr id="269" name="Google Shape;269;p6"/>
            <p:cNvSpPr/>
            <p:nvPr/>
          </p:nvSpPr>
          <p:spPr>
            <a:xfrm>
              <a:off x="638175" y="2714625"/>
              <a:ext cx="5334000" cy="3571800"/>
            </a:xfrm>
            <a:prstGeom prst="roundRect">
              <a:avLst>
                <a:gd fmla="val 426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0" name="Google Shape;270;p6"/>
            <p:cNvSpPr txBox="1"/>
            <p:nvPr/>
          </p:nvSpPr>
          <p:spPr>
            <a:xfrm>
              <a:off x="828675" y="2857500"/>
              <a:ext cx="4953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Build Agent: Lead Scoring Architecture</a:t>
              </a:r>
              <a:endParaRPr b="1" sz="1400">
                <a:solidFill>
                  <a:srgbClr val="10B98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1" name="Google Shape;271;p6"/>
            <p:cNvSpPr/>
            <p:nvPr/>
          </p:nvSpPr>
          <p:spPr>
            <a:xfrm>
              <a:off x="828675" y="3238500"/>
              <a:ext cx="4953000" cy="2857500"/>
            </a:xfrm>
            <a:prstGeom prst="roundRect">
              <a:avLst>
                <a:gd fmla="val 4000" name="adj"/>
              </a:avLst>
            </a:prstGeom>
            <a:solidFill>
              <a:srgbClr val="0F172A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2" name="Google Shape;272;p6"/>
            <p:cNvSpPr txBox="1"/>
            <p:nvPr/>
          </p:nvSpPr>
          <p:spPr>
            <a:xfrm>
              <a:off x="923925" y="3333750"/>
              <a:ext cx="4762500" cy="266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10B981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ai ask --agent build "Lead scoring Apex?"</a:t>
              </a:r>
              <a:endParaRPr sz="1000">
                <a:solidFill>
                  <a:srgbClr val="10B981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0A5F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[Build Agent] Searching Lead metadata...</a:t>
              </a:r>
              <a:endParaRPr sz="1000">
                <a:solidFill>
                  <a:srgbClr val="60A5F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0A5F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No existing Apex found. Strategy:</a:t>
              </a:r>
              <a:endParaRPr sz="1000">
                <a:solidFill>
                  <a:srgbClr val="60A5F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F9FAFB"/>
                </a:buClr>
                <a:buSzPts val="1000"/>
                <a:buFont typeface="JetBrains Mono"/>
                <a:buChar char="●"/>
              </a:pPr>
              <a:r>
                <a:rPr lang="en-US" sz="1000">
                  <a:solidFill>
                    <a:srgbClr val="F9FAF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LeadScoringEngine.cls — logic</a:t>
              </a:r>
              <a:endParaRPr sz="1000">
                <a:solidFill>
                  <a:srgbClr val="F9FAF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-2921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F9FAFB"/>
                </a:buClr>
                <a:buSzPts val="1000"/>
                <a:buFont typeface="JetBrains Mono"/>
                <a:buChar char="●"/>
              </a:pPr>
              <a:r>
                <a:rPr lang="en-US" sz="1000">
                  <a:solidFill>
                    <a:srgbClr val="F9FAF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LeadTrigger.trigger — events</a:t>
              </a:r>
              <a:endParaRPr sz="1000">
                <a:solidFill>
                  <a:srgbClr val="F9FAF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-2921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F9FAFB"/>
                </a:buClr>
                <a:buSzPts val="1000"/>
                <a:buFont typeface="JetBrains Mono"/>
                <a:buChar char="●"/>
              </a:pPr>
              <a:r>
                <a:rPr lang="en-US" sz="1000">
                  <a:solidFill>
                    <a:srgbClr val="F9FAF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LeadTriggerHandler.cls — pattern</a:t>
              </a:r>
              <a:endParaRPr sz="1000">
                <a:solidFill>
                  <a:srgbClr val="F9FAF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-2921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F9FAFB"/>
                </a:buClr>
                <a:buSzPts val="1000"/>
                <a:buFont typeface="JetBrains Mono"/>
                <a:buChar char="●"/>
              </a:pPr>
              <a:r>
                <a:rPr lang="en-US" sz="1000">
                  <a:solidFill>
                    <a:srgbClr val="F9FAF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LeadScoringBatch.cls — bulk</a:t>
              </a:r>
              <a:endParaRPr sz="1000">
                <a:solidFill>
                  <a:srgbClr val="F9FAF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-292100" lvl="0" marL="457200" rtl="0" algn="l">
                <a:spcBef>
                  <a:spcPts val="400"/>
                </a:spcBef>
                <a:spcAft>
                  <a:spcPts val="0"/>
                </a:spcAft>
                <a:buClr>
                  <a:srgbClr val="F9FAFB"/>
                </a:buClr>
                <a:buSzPts val="1000"/>
                <a:buFont typeface="JetBrains Mono"/>
                <a:buChar char="●"/>
              </a:pPr>
              <a:r>
                <a:rPr lang="en-US" sz="1000">
                  <a:solidFill>
                    <a:srgbClr val="F9FAF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3 test classes — &gt;75% coverage</a:t>
              </a:r>
              <a:endParaRPr sz="1000">
                <a:solidFill>
                  <a:srgbClr val="F9FAF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</p:grpSp>
      <p:grpSp>
        <p:nvGrpSpPr>
          <p:cNvPr id="273" name="Google Shape;273;p6"/>
          <p:cNvGrpSpPr/>
          <p:nvPr/>
        </p:nvGrpSpPr>
        <p:grpSpPr>
          <a:xfrm>
            <a:off x="6219825" y="2714625"/>
            <a:ext cx="5334000" cy="3571800"/>
            <a:chOff x="6219825" y="2714625"/>
            <a:chExt cx="5334000" cy="3571800"/>
          </a:xfrm>
        </p:grpSpPr>
        <p:sp>
          <p:nvSpPr>
            <p:cNvPr id="274" name="Google Shape;274;p6"/>
            <p:cNvSpPr/>
            <p:nvPr/>
          </p:nvSpPr>
          <p:spPr>
            <a:xfrm>
              <a:off x="6219825" y="2714625"/>
              <a:ext cx="5334000" cy="3571800"/>
            </a:xfrm>
            <a:prstGeom prst="roundRect">
              <a:avLst>
                <a:gd fmla="val 4266" name="adj"/>
              </a:avLst>
            </a:prstGeom>
            <a:solidFill>
              <a:srgbClr val="1E293B"/>
            </a:solidFill>
            <a:ln cap="flat" cmpd="sng" w="9525">
              <a:solidFill>
                <a:srgbClr val="8B5C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5" name="Google Shape;275;p6"/>
            <p:cNvSpPr txBox="1"/>
            <p:nvPr/>
          </p:nvSpPr>
          <p:spPr>
            <a:xfrm>
              <a:off x="6410325" y="2857500"/>
              <a:ext cx="4953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A78BFA"/>
                  </a:solidFill>
                  <a:latin typeface="Inter"/>
                  <a:ea typeface="Inter"/>
                  <a:cs typeface="Inter"/>
                  <a:sym typeface="Inter"/>
                </a:rPr>
                <a:t>MCP Server (Bonus)</a:t>
              </a:r>
              <a:endParaRPr b="1" sz="1400">
                <a:solidFill>
                  <a:srgbClr val="A78BF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6" name="Google Shape;276;p6"/>
            <p:cNvSpPr/>
            <p:nvPr/>
          </p:nvSpPr>
          <p:spPr>
            <a:xfrm>
              <a:off x="6410325" y="3238500"/>
              <a:ext cx="4953000" cy="762000"/>
            </a:xfrm>
            <a:prstGeom prst="roundRect">
              <a:avLst>
                <a:gd fmla="val 15000" name="adj"/>
              </a:avLst>
            </a:prstGeom>
            <a:solidFill>
              <a:srgbClr val="0F172A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7" name="Google Shape;277;p6"/>
            <p:cNvSpPr txBox="1"/>
            <p:nvPr/>
          </p:nvSpPr>
          <p:spPr>
            <a:xfrm>
              <a:off x="6505575" y="3286125"/>
              <a:ext cx="47625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10B981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mcp</a:t>
              </a:r>
              <a:endParaRPr sz="1000">
                <a:solidFill>
                  <a:srgbClr val="10B981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94A3B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Starting MCP server...</a:t>
              </a:r>
              <a:endParaRPr sz="1000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0A5FA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17 tools advertised (stdio)</a:t>
              </a:r>
              <a:endParaRPr sz="1000">
                <a:solidFill>
                  <a:srgbClr val="60A5FA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  <p:sp>
          <p:nvSpPr>
            <p:cNvPr id="278" name="Google Shape;278;p6"/>
            <p:cNvSpPr txBox="1"/>
            <p:nvPr/>
          </p:nvSpPr>
          <p:spPr>
            <a:xfrm>
              <a:off x="6410325" y="4143375"/>
              <a:ext cx="49530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5250" lIns="95250" spcFirstLastPara="1" rIns="95250" wrap="square" tIns="952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9FAFB"/>
                  </a:solidFill>
                  <a:latin typeface="Inter"/>
                  <a:ea typeface="Inter"/>
                  <a:cs typeface="Inter"/>
                  <a:sym typeface="Inter"/>
                </a:rPr>
                <a:t>Available Tools:</a:t>
              </a:r>
              <a:endParaRPr b="1" sz="1100">
                <a:solidFill>
                  <a:srgbClr val="F9FAF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story_list, commit, promote, deploy_to_prod, ai_ask_agent, ai_chat_agent, run_test, test_status, test_results, workflow_list, workflow_run, list_environments, validation_run</a:t>
              </a:r>
              <a:endParaRPr b="0" sz="9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79" name="Google Shape;279;p6"/>
            <p:cNvSpPr/>
            <p:nvPr/>
          </p:nvSpPr>
          <p:spPr>
            <a:xfrm>
              <a:off x="6410325" y="5619750"/>
              <a:ext cx="4953000" cy="476400"/>
            </a:xfrm>
            <a:prstGeom prst="roundRect">
              <a:avLst>
                <a:gd fmla="val 20000" name="adj"/>
              </a:avLst>
            </a:prstGeom>
            <a:solidFill>
              <a:srgbClr val="8B5CF6">
                <a:alpha val="15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0" name="Google Shape;280;p6"/>
            <p:cNvSpPr txBox="1"/>
            <p:nvPr/>
          </p:nvSpPr>
          <p:spPr>
            <a:xfrm>
              <a:off x="6410325" y="5619750"/>
              <a:ext cx="4953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A78BFA"/>
                  </a:solidFill>
                  <a:latin typeface="Inter"/>
                  <a:ea typeface="Inter"/>
                  <a:cs typeface="Inter"/>
                  <a:sym typeface="Inter"/>
                </a:rPr>
                <a:t>Compatible with Claude Code, Cursor, VS Code</a:t>
              </a:r>
              <a:endParaRPr b="1" sz="1100">
                <a:solidFill>
                  <a:srgbClr val="A78BF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281" name="Google Shape;281;p6"/>
          <p:cNvSpPr/>
          <p:nvPr/>
        </p:nvSpPr>
        <p:spPr>
          <a:xfrm>
            <a:off x="0" y="6446520"/>
            <a:ext cx="12191700" cy="411600"/>
          </a:xfrm>
          <a:prstGeom prst="rect">
            <a:avLst/>
          </a:prstGeom>
          <a:solidFill>
            <a:srgbClr val="16172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6"/>
          <p:cNvSpPr txBox="1"/>
          <p:nvPr/>
        </p:nvSpPr>
        <p:spPr>
          <a:xfrm>
            <a:off x="548640" y="6473952"/>
            <a:ext cx="45720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copado-hx  ·  CopadoCON Bangalore 2026</a:t>
            </a:r>
            <a:endParaRPr/>
          </a:p>
        </p:txBody>
      </p:sp>
      <p:sp>
        <p:nvSpPr>
          <p:cNvPr id="283" name="Google Shape;283;p6"/>
          <p:cNvSpPr txBox="1"/>
          <p:nvPr/>
        </p:nvSpPr>
        <p:spPr>
          <a:xfrm>
            <a:off x="5029200" y="6473952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09BBF"/>
                </a:solidFill>
                <a:latin typeface="Calibri"/>
                <a:ea typeface="Calibri"/>
                <a:cs typeface="Calibri"/>
                <a:sym typeface="Calibri"/>
              </a:rPr>
              <a:t>●  ●  ●  ●  ●  ○  ○  </a:t>
            </a:r>
            <a:endParaRPr/>
          </a:p>
        </p:txBody>
      </p:sp>
      <p:sp>
        <p:nvSpPr>
          <p:cNvPr id="284" name="Google Shape;284;p6"/>
          <p:cNvSpPr txBox="1"/>
          <p:nvPr/>
        </p:nvSpPr>
        <p:spPr>
          <a:xfrm>
            <a:off x="11277295" y="6473952"/>
            <a:ext cx="7314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6D82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9" name="Google Shape;289;p7"/>
          <p:cNvGrpSpPr/>
          <p:nvPr/>
        </p:nvGrpSpPr>
        <p:grpSpPr>
          <a:xfrm>
            <a:off x="638175" y="409575"/>
            <a:ext cx="10915800" cy="1009650"/>
            <a:chOff x="638175" y="409575"/>
            <a:chExt cx="10915800" cy="1009650"/>
          </a:xfrm>
        </p:grpSpPr>
        <p:sp>
          <p:nvSpPr>
            <p:cNvPr id="290" name="Google Shape;290;p7"/>
            <p:cNvSpPr txBox="1"/>
            <p:nvPr/>
          </p:nvSpPr>
          <p:spPr>
            <a:xfrm>
              <a:off x="638175" y="409575"/>
              <a:ext cx="10915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Auth &amp; Setup </a:t>
              </a:r>
              <a:r>
                <a:rPr b="1" lang="en-US" sz="36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+</a:t>
              </a:r>
              <a:r>
                <a:rPr b="1" lang="en-US" sz="360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 Deliverables</a:t>
              </a:r>
              <a:endParaRPr b="1" sz="36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91" name="Google Shape;291;p7"/>
            <p:cNvSpPr txBox="1"/>
            <p:nvPr/>
          </p:nvSpPr>
          <p:spPr>
            <a:xfrm>
              <a:off x="638175" y="1000125"/>
              <a:ext cx="109158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One command · Zero passwords on disk</a:t>
              </a:r>
              <a:endParaRPr b="0" sz="1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92" name="Google Shape;292;p7"/>
            <p:cNvSpPr/>
            <p:nvPr/>
          </p:nvSpPr>
          <p:spPr>
            <a:xfrm>
              <a:off x="638175" y="1381125"/>
              <a:ext cx="1905000" cy="38100"/>
            </a:xfrm>
            <a:prstGeom prst="rect">
              <a:avLst/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93" name="Google Shape;293;p7"/>
          <p:cNvGrpSpPr/>
          <p:nvPr/>
        </p:nvGrpSpPr>
        <p:grpSpPr>
          <a:xfrm>
            <a:off x="638175" y="1647825"/>
            <a:ext cx="5305500" cy="3429000"/>
            <a:chOff x="638175" y="1647825"/>
            <a:chExt cx="5305500" cy="3429000"/>
          </a:xfrm>
        </p:grpSpPr>
        <p:sp>
          <p:nvSpPr>
            <p:cNvPr id="294" name="Google Shape;294;p7"/>
            <p:cNvSpPr/>
            <p:nvPr/>
          </p:nvSpPr>
          <p:spPr>
            <a:xfrm>
              <a:off x="638175" y="1647825"/>
              <a:ext cx="5305500" cy="3429000"/>
            </a:xfrm>
            <a:prstGeom prst="roundRect">
              <a:avLst>
                <a:gd fmla="val 5555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7"/>
            <p:cNvSpPr txBox="1"/>
            <p:nvPr/>
          </p:nvSpPr>
          <p:spPr>
            <a:xfrm>
              <a:off x="923925" y="1838325"/>
              <a:ext cx="473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Authentication Flow</a:t>
              </a:r>
              <a:endParaRPr b="1" sz="16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296" name="Google Shape;296;p7"/>
            <p:cNvSpPr/>
            <p:nvPr/>
          </p:nvSpPr>
          <p:spPr>
            <a:xfrm>
              <a:off x="923925" y="2238375"/>
              <a:ext cx="4734000" cy="1285800"/>
            </a:xfrm>
            <a:prstGeom prst="roundRect">
              <a:avLst>
                <a:gd fmla="val 8888" name="adj"/>
              </a:avLst>
            </a:prstGeom>
            <a:solidFill>
              <a:srgbClr val="0F172A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7"/>
            <p:cNvSpPr txBox="1"/>
            <p:nvPr/>
          </p:nvSpPr>
          <p:spPr>
            <a:xfrm>
              <a:off x="1066800" y="2333625"/>
              <a:ext cx="4448100" cy="1095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7625" lIns="47625" spcFirstLastPara="1" rIns="47625" wrap="square" tIns="476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50FA7B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$ copado-hx auth status</a:t>
              </a:r>
              <a:endParaRPr sz="879">
                <a:solidFill>
                  <a:srgbClr val="50FA7B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94A3B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╭─ Authentication Status ───────────────╮</a:t>
              </a:r>
              <a:endParaRPr sz="879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│ Salesforce: Authenticated ✓ │</a:t>
              </a:r>
              <a:endParaRPr sz="87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│ AI Platform: Configured ✓  │</a:t>
              </a:r>
              <a:endParaRPr sz="87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│ CRT (Tests): Configured ✓ │</a:t>
              </a:r>
              <a:endParaRPr sz="87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FFFFFF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│ Actions API: Configured ✓ │</a:t>
              </a:r>
              <a:endParaRPr sz="879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79">
                  <a:solidFill>
                    <a:srgbClr val="94A3B8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╰───────────────────────────────────────╯</a:t>
              </a:r>
              <a:endParaRPr sz="879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endParaRPr>
            </a:p>
          </p:txBody>
        </p:sp>
        <p:sp>
          <p:nvSpPr>
            <p:cNvPr id="298" name="Google Shape;298;p7"/>
            <p:cNvSpPr txBox="1"/>
            <p:nvPr/>
          </p:nvSpPr>
          <p:spPr>
            <a:xfrm>
              <a:off x="923925" y="3619500"/>
              <a:ext cx="47340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95275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F8FAFC"/>
                </a:buClr>
                <a:buSzPts val="1050"/>
                <a:buFont typeface="Inter"/>
                <a:buChar char="●"/>
              </a:pPr>
              <a:r>
                <a:rPr lang="en-US" sz="10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Salesforce OAuth via browser flow</a:t>
              </a:r>
              <a:endParaRPr sz="10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F8FAFC"/>
                </a:buClr>
                <a:buSzPts val="1050"/>
                <a:buFont typeface="Inter"/>
                <a:buChar char="●"/>
              </a:pPr>
              <a:r>
                <a:rPr lang="en-US" sz="10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AI API Key stored securely</a:t>
              </a:r>
              <a:endParaRPr sz="10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F8FAFC"/>
                </a:buClr>
                <a:buSzPts val="1050"/>
                <a:buFont typeface="Inter"/>
                <a:buChar char="●"/>
              </a:pPr>
              <a:r>
                <a:rPr lang="en-US" sz="10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CRT PAK stored securely</a:t>
              </a:r>
              <a:endParaRPr sz="10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-295275" lvl="0" marL="457200" rtl="0" algn="l">
                <a:spcBef>
                  <a:spcPts val="300"/>
                </a:spcBef>
                <a:spcAft>
                  <a:spcPts val="0"/>
                </a:spcAft>
                <a:buClr>
                  <a:srgbClr val="F8FAFC"/>
                </a:buClr>
                <a:buSzPts val="1050"/>
                <a:buFont typeface="Inter"/>
                <a:buChar char="●"/>
              </a:pPr>
              <a:r>
                <a:rPr lang="en-US" sz="10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Actions API Key from Account Summary</a:t>
              </a:r>
              <a:endParaRPr sz="10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Credentials: ~/.copado-hx-secrets.json (600)</a:t>
              </a:r>
              <a:endParaRPr sz="9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8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CI Env: COPADO_AI_API_KEY, COPADO_CRT_PAK, ...</a:t>
              </a:r>
              <a:endParaRPr sz="8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9" name="Google Shape;299;p7"/>
          <p:cNvGrpSpPr/>
          <p:nvPr/>
        </p:nvGrpSpPr>
        <p:grpSpPr>
          <a:xfrm>
            <a:off x="6248400" y="1647825"/>
            <a:ext cx="5305500" cy="3429000"/>
            <a:chOff x="6248400" y="1647825"/>
            <a:chExt cx="5305500" cy="3429000"/>
          </a:xfrm>
        </p:grpSpPr>
        <p:sp>
          <p:nvSpPr>
            <p:cNvPr id="300" name="Google Shape;300;p7"/>
            <p:cNvSpPr/>
            <p:nvPr/>
          </p:nvSpPr>
          <p:spPr>
            <a:xfrm>
              <a:off x="6248400" y="1647825"/>
              <a:ext cx="5305500" cy="3429000"/>
            </a:xfrm>
            <a:prstGeom prst="roundRect">
              <a:avLst>
                <a:gd fmla="val 5555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7"/>
            <p:cNvSpPr txBox="1"/>
            <p:nvPr/>
          </p:nvSpPr>
          <p:spPr>
            <a:xfrm>
              <a:off x="6534150" y="1838325"/>
              <a:ext cx="473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50FA7B"/>
                  </a:solidFill>
                  <a:latin typeface="Inter"/>
                  <a:ea typeface="Inter"/>
                  <a:cs typeface="Inter"/>
                  <a:sym typeface="Inter"/>
                </a:rPr>
                <a:t>Track B Deliverables</a:t>
              </a:r>
              <a:endParaRPr b="1" sz="1600">
                <a:solidFill>
                  <a:srgbClr val="50FA7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302" name="Google Shape;302;p7"/>
            <p:cNvGrpSpPr/>
            <p:nvPr/>
          </p:nvGrpSpPr>
          <p:grpSpPr>
            <a:xfrm>
              <a:off x="6534150" y="2238375"/>
              <a:ext cx="4734000" cy="2571750"/>
              <a:chOff x="0" y="0"/>
              <a:chExt cx="4734000" cy="2571750"/>
            </a:xfrm>
          </p:grpSpPr>
          <p:sp>
            <p:nvSpPr>
              <p:cNvPr id="303" name="Google Shape;303;p7"/>
              <p:cNvSpPr/>
              <p:nvPr/>
            </p:nvSpPr>
            <p:spPr>
              <a:xfrm>
                <a:off x="0" y="0"/>
                <a:ext cx="4734000" cy="571500"/>
              </a:xfrm>
              <a:prstGeom prst="roundRect">
                <a:avLst>
                  <a:gd fmla="val 16666" name="adj"/>
                </a:avLst>
              </a:prstGeom>
              <a:solidFill>
                <a:srgbClr val="0F172A">
                  <a:alpha val="5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4" name="Google Shape;304;p7"/>
              <p:cNvSpPr txBox="1"/>
              <p:nvPr/>
            </p:nvSpPr>
            <p:spPr>
              <a:xfrm>
                <a:off x="142875" y="47625"/>
                <a:ext cx="4448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copado-hx CLI</a:t>
                </a:r>
                <a:endParaRPr b="0" sz="11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14 command groups, 17 tests</a:t>
                </a:r>
                <a:endParaRPr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305" name="Google Shape;305;p7"/>
              <p:cNvSpPr/>
              <p:nvPr/>
            </p:nvSpPr>
            <p:spPr>
              <a:xfrm>
                <a:off x="0" y="666750"/>
                <a:ext cx="4734000" cy="571500"/>
              </a:xfrm>
              <a:prstGeom prst="roundRect">
                <a:avLst>
                  <a:gd fmla="val 16666" name="adj"/>
                </a:avLst>
              </a:prstGeom>
              <a:solidFill>
                <a:srgbClr val="0F172A">
                  <a:alpha val="5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7"/>
              <p:cNvSpPr txBox="1"/>
              <p:nvPr/>
            </p:nvSpPr>
            <p:spPr>
              <a:xfrm>
                <a:off x="142875" y="714375"/>
                <a:ext cx="4448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SKILL.md</a:t>
                </a:r>
                <a:endParaRPr b="0" sz="11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7 sections, 5 playbooks, 9 guardrails</a:t>
                </a:r>
                <a:endParaRPr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307" name="Google Shape;307;p7"/>
              <p:cNvSpPr/>
              <p:nvPr/>
            </p:nvSpPr>
            <p:spPr>
              <a:xfrm>
                <a:off x="0" y="1333500"/>
                <a:ext cx="4734000" cy="571500"/>
              </a:xfrm>
              <a:prstGeom prst="roundRect">
                <a:avLst>
                  <a:gd fmla="val 16666" name="adj"/>
                </a:avLst>
              </a:prstGeom>
              <a:solidFill>
                <a:srgbClr val="0F172A">
                  <a:alpha val="5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8" name="Google Shape;308;p7"/>
              <p:cNvSpPr txBox="1"/>
              <p:nvPr/>
            </p:nvSpPr>
            <p:spPr>
              <a:xfrm>
                <a:off x="142875" y="1381125"/>
                <a:ext cx="4448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MCP Server </a:t>
                </a:r>
                <a:r>
                  <a:rPr b="0" lang="en-US" sz="900">
                    <a:solidFill>
                      <a:srgbClr val="A78BFA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(Bonus)</a:t>
                </a:r>
                <a:endParaRPr b="0" sz="11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17 FastMCP tools</a:t>
                </a:r>
                <a:endParaRPr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309" name="Google Shape;309;p7"/>
              <p:cNvSpPr/>
              <p:nvPr/>
            </p:nvSpPr>
            <p:spPr>
              <a:xfrm>
                <a:off x="0" y="2000250"/>
                <a:ext cx="4734000" cy="571500"/>
              </a:xfrm>
              <a:prstGeom prst="roundRect">
                <a:avLst>
                  <a:gd fmla="val 16666" name="adj"/>
                </a:avLst>
              </a:prstGeom>
              <a:solidFill>
                <a:srgbClr val="0F172A">
                  <a:alpha val="5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0" name="Google Shape;310;p7"/>
              <p:cNvSpPr txBox="1"/>
              <p:nvPr/>
            </p:nvSpPr>
            <p:spPr>
              <a:xfrm>
                <a:off x="142875" y="2047875"/>
                <a:ext cx="4448100" cy="4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Demo video &amp; Slide deck</a:t>
                </a:r>
                <a:endParaRPr b="0" sz="11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41s recording · 8 slides</a:t>
                </a:r>
                <a:endParaRPr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311" name="Google Shape;311;p7"/>
          <p:cNvSpPr txBox="1"/>
          <p:nvPr/>
        </p:nvSpPr>
        <p:spPr>
          <a:xfrm>
            <a:off x="923925" y="5381625"/>
            <a:ext cx="103443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00">
                <a:solidFill>
                  <a:srgbClr val="50FA7B"/>
                </a:solidFill>
                <a:latin typeface="Inter"/>
                <a:ea typeface="Inter"/>
                <a:cs typeface="Inter"/>
                <a:sym typeface="Inter"/>
              </a:rPr>
              <a:t>Rules Compliance</a:t>
            </a:r>
            <a:endParaRPr b="1" sz="1300">
              <a:solidFill>
                <a:srgbClr val="50FA7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MIT License · 2 members · 3 API integrations · OAuth · No secrets in repo · 5 specialist agents · Hackathon-fresh code</a:t>
            </a:r>
            <a:endParaRPr b="0" sz="10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6" name="Google Shape;316;p8"/>
          <p:cNvGrpSpPr/>
          <p:nvPr/>
        </p:nvGrpSpPr>
        <p:grpSpPr>
          <a:xfrm>
            <a:off x="571500" y="381000"/>
            <a:ext cx="11049000" cy="1085850"/>
            <a:chOff x="571500" y="381000"/>
            <a:chExt cx="11049000" cy="1085850"/>
          </a:xfrm>
        </p:grpSpPr>
        <p:sp>
          <p:nvSpPr>
            <p:cNvPr id="317" name="Google Shape;317;p8"/>
            <p:cNvSpPr txBox="1"/>
            <p:nvPr/>
          </p:nvSpPr>
          <p:spPr>
            <a:xfrm>
              <a:off x="571500" y="381000"/>
              <a:ext cx="11049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57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Demo Flow</a:t>
              </a:r>
              <a:endParaRPr b="0" sz="357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318" name="Google Shape;318;p8"/>
            <p:cNvSpPr txBox="1"/>
            <p:nvPr/>
          </p:nvSpPr>
          <p:spPr>
            <a:xfrm>
              <a:off x="571500" y="1000125"/>
              <a:ext cx="110490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8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15 commands · 3 API surfaces · 0 browser tabs</a:t>
              </a:r>
              <a:endParaRPr b="0" sz="18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19" name="Google Shape;319;p8"/>
            <p:cNvSpPr/>
            <p:nvPr/>
          </p:nvSpPr>
          <p:spPr>
            <a:xfrm>
              <a:off x="666750" y="1428750"/>
              <a:ext cx="1143000" cy="38100"/>
            </a:xfrm>
            <a:prstGeom prst="roundRect">
              <a:avLst>
                <a:gd fmla="val 50000" name="adj"/>
              </a:avLst>
            </a:prstGeom>
            <a:solidFill>
              <a:srgbClr val="00D2FF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20" name="Google Shape;320;p8"/>
          <p:cNvGrpSpPr/>
          <p:nvPr/>
        </p:nvGrpSpPr>
        <p:grpSpPr>
          <a:xfrm>
            <a:off x="571500" y="1714500"/>
            <a:ext cx="8191500" cy="3810000"/>
            <a:chOff x="571500" y="1714500"/>
            <a:chExt cx="8191500" cy="3810000"/>
          </a:xfrm>
        </p:grpSpPr>
        <p:sp>
          <p:nvSpPr>
            <p:cNvPr id="321" name="Google Shape;321;p8"/>
            <p:cNvSpPr/>
            <p:nvPr/>
          </p:nvSpPr>
          <p:spPr>
            <a:xfrm>
              <a:off x="571500" y="1714500"/>
              <a:ext cx="8191500" cy="3810000"/>
            </a:xfrm>
            <a:prstGeom prst="roundRect">
              <a:avLst>
                <a:gd fmla="val 5000" name="adj"/>
              </a:avLst>
            </a:prstGeom>
            <a:solidFill>
              <a:srgbClr val="1F2138"/>
            </a:solidFill>
            <a:ln cap="flat" cmpd="sng" w="9525">
              <a:solidFill>
                <a:srgbClr val="2D2F4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2" name="Google Shape;322;p8"/>
            <p:cNvGrpSpPr/>
            <p:nvPr/>
          </p:nvGrpSpPr>
          <p:grpSpPr>
            <a:xfrm>
              <a:off x="857250" y="1952625"/>
              <a:ext cx="3762525" cy="428700"/>
              <a:chOff x="0" y="-47625"/>
              <a:chExt cx="3762525" cy="428700"/>
            </a:xfrm>
          </p:grpSpPr>
          <p:sp>
            <p:nvSpPr>
              <p:cNvPr id="323" name="Google Shape;323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4" name="Google Shape;324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01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25" name="Google Shape;325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--help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17 commands shown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26" name="Google Shape;326;p8"/>
            <p:cNvGrpSpPr/>
            <p:nvPr/>
          </p:nvGrpSpPr>
          <p:grpSpPr>
            <a:xfrm>
              <a:off x="857250" y="2428875"/>
              <a:ext cx="3762525" cy="428700"/>
              <a:chOff x="0" y="-47625"/>
              <a:chExt cx="3762525" cy="428700"/>
            </a:xfrm>
          </p:grpSpPr>
          <p:sp>
            <p:nvSpPr>
              <p:cNvPr id="327" name="Google Shape;327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8" name="Google Shape;328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02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29" name="Google Shape;329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auth status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4/4 services green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30" name="Google Shape;330;p8"/>
            <p:cNvGrpSpPr/>
            <p:nvPr/>
          </p:nvGrpSpPr>
          <p:grpSpPr>
            <a:xfrm>
              <a:off x="857250" y="2905125"/>
              <a:ext cx="3762525" cy="428700"/>
              <a:chOff x="0" y="-47625"/>
              <a:chExt cx="3762525" cy="428700"/>
            </a:xfrm>
          </p:grpSpPr>
          <p:sp>
            <p:nvSpPr>
              <p:cNvPr id="331" name="Google Shape;331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2" name="Google Shape;332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03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33" name="Google Shape;333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story list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1 user story found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34" name="Google Shape;334;p8"/>
            <p:cNvGrpSpPr/>
            <p:nvPr/>
          </p:nvGrpSpPr>
          <p:grpSpPr>
            <a:xfrm>
              <a:off x="857250" y="3381375"/>
              <a:ext cx="3762525" cy="428700"/>
              <a:chOff x="0" y="-47625"/>
              <a:chExt cx="3762525" cy="428700"/>
            </a:xfrm>
          </p:grpSpPr>
          <p:sp>
            <p:nvSpPr>
              <p:cNvPr id="335" name="Google Shape;335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36" name="Google Shape;336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04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37" name="Google Shape;337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story show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Draft status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38" name="Google Shape;338;p8"/>
            <p:cNvGrpSpPr/>
            <p:nvPr/>
          </p:nvGrpSpPr>
          <p:grpSpPr>
            <a:xfrm>
              <a:off x="857250" y="3857625"/>
              <a:ext cx="3762525" cy="428700"/>
              <a:chOff x="0" y="-47625"/>
              <a:chExt cx="3762525" cy="428700"/>
            </a:xfrm>
          </p:grpSpPr>
          <p:sp>
            <p:nvSpPr>
              <p:cNvPr id="339" name="Google Shape;339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0" name="Google Shape;340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05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41" name="Google Shape;341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workflow list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7 workflows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42" name="Google Shape;342;p8"/>
            <p:cNvGrpSpPr/>
            <p:nvPr/>
          </p:nvGrpSpPr>
          <p:grpSpPr>
            <a:xfrm>
              <a:off x="857250" y="4333875"/>
              <a:ext cx="3762525" cy="428700"/>
              <a:chOff x="0" y="-47625"/>
              <a:chExt cx="3762525" cy="428700"/>
            </a:xfrm>
          </p:grpSpPr>
          <p:sp>
            <p:nvSpPr>
              <p:cNvPr id="343" name="Google Shape;343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4" name="Google Shape;344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06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45" name="Google Shape;345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story set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Context set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46" name="Google Shape;346;p8"/>
            <p:cNvGrpSpPr/>
            <p:nvPr/>
          </p:nvGrpSpPr>
          <p:grpSpPr>
            <a:xfrm>
              <a:off x="857250" y="4810125"/>
              <a:ext cx="3762525" cy="428700"/>
              <a:chOff x="0" y="-47625"/>
              <a:chExt cx="3762525" cy="428700"/>
            </a:xfrm>
          </p:grpSpPr>
          <p:sp>
            <p:nvSpPr>
              <p:cNvPr id="347" name="Google Shape;347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8" name="Google Shape;348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07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49" name="Google Shape;349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commit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Actions API JE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50" name="Google Shape;350;p8"/>
            <p:cNvGrpSpPr/>
            <p:nvPr/>
          </p:nvGrpSpPr>
          <p:grpSpPr>
            <a:xfrm>
              <a:off x="4572000" y="1952625"/>
              <a:ext cx="3762525" cy="428700"/>
              <a:chOff x="0" y="-47625"/>
              <a:chExt cx="3762525" cy="428700"/>
            </a:xfrm>
          </p:grpSpPr>
          <p:sp>
            <p:nvSpPr>
              <p:cNvPr id="351" name="Google Shape;351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2" name="Google Shape;352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08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53" name="Google Shape;353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promote --env UAT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Actions API JE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54" name="Google Shape;354;p8"/>
            <p:cNvGrpSpPr/>
            <p:nvPr/>
          </p:nvGrpSpPr>
          <p:grpSpPr>
            <a:xfrm>
              <a:off x="4572000" y="2428875"/>
              <a:ext cx="3762525" cy="428700"/>
              <a:chOff x="0" y="-47625"/>
              <a:chExt cx="3762525" cy="428700"/>
            </a:xfrm>
          </p:grpSpPr>
          <p:sp>
            <p:nvSpPr>
              <p:cNvPr id="355" name="Google Shape;355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6" name="Google Shape;356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09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57" name="Google Shape;357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test list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CRT jobs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58" name="Google Shape;358;p8"/>
            <p:cNvGrpSpPr/>
            <p:nvPr/>
          </p:nvGrpSpPr>
          <p:grpSpPr>
            <a:xfrm>
              <a:off x="4572000" y="2905125"/>
              <a:ext cx="3762525" cy="428700"/>
              <a:chOff x="0" y="-47625"/>
              <a:chExt cx="3762525" cy="428700"/>
            </a:xfrm>
          </p:grpSpPr>
          <p:sp>
            <p:nvSpPr>
              <p:cNvPr id="359" name="Google Shape;359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0" name="Google Shape;360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10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61" name="Google Shape;361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test run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CRT build triggered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62" name="Google Shape;362;p8"/>
            <p:cNvGrpSpPr/>
            <p:nvPr/>
          </p:nvGrpSpPr>
          <p:grpSpPr>
            <a:xfrm>
              <a:off x="4572000" y="3381375"/>
              <a:ext cx="3762525" cy="428700"/>
              <a:chOff x="0" y="-47625"/>
              <a:chExt cx="3762525" cy="428700"/>
            </a:xfrm>
          </p:grpSpPr>
          <p:sp>
            <p:nvSpPr>
              <p:cNvPr id="363" name="Google Shape;363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4" name="Google Shape;364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11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65" name="Google Shape;365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environments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7 environments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66" name="Google Shape;366;p8"/>
            <p:cNvGrpSpPr/>
            <p:nvPr/>
          </p:nvGrpSpPr>
          <p:grpSpPr>
            <a:xfrm>
              <a:off x="4572000" y="3857625"/>
              <a:ext cx="3762525" cy="428700"/>
              <a:chOff x="0" y="-47625"/>
              <a:chExt cx="3762525" cy="428700"/>
            </a:xfrm>
          </p:grpSpPr>
          <p:sp>
            <p:nvSpPr>
              <p:cNvPr id="367" name="Google Shape;367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8" name="Google Shape;368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12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69" name="Google Shape;369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deploy --env PROD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FF6B6B"/>
                    </a:solidFill>
                    <a:latin typeface="Inter"/>
                    <a:ea typeface="Inter"/>
                    <a:cs typeface="Inter"/>
                    <a:sym typeface="Inter"/>
                  </a:rPr>
                  <a:t>Gate: cancelled</a:t>
                </a:r>
                <a:endParaRPr b="0" sz="900">
                  <a:solidFill>
                    <a:srgbClr val="FF6B6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70" name="Google Shape;370;p8"/>
            <p:cNvGrpSpPr/>
            <p:nvPr/>
          </p:nvGrpSpPr>
          <p:grpSpPr>
            <a:xfrm>
              <a:off x="4572000" y="4333875"/>
              <a:ext cx="3762525" cy="428700"/>
              <a:chOff x="0" y="-47625"/>
              <a:chExt cx="3762525" cy="428700"/>
            </a:xfrm>
          </p:grpSpPr>
          <p:sp>
            <p:nvSpPr>
              <p:cNvPr id="371" name="Google Shape;371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2" name="Google Shape;372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13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73" name="Google Shape;373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ai ask --agent build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Apex code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74" name="Google Shape;374;p8"/>
            <p:cNvGrpSpPr/>
            <p:nvPr/>
          </p:nvGrpSpPr>
          <p:grpSpPr>
            <a:xfrm>
              <a:off x="4572000" y="4810125"/>
              <a:ext cx="3762525" cy="428700"/>
              <a:chOff x="0" y="-47625"/>
              <a:chExt cx="3762525" cy="428700"/>
            </a:xfrm>
          </p:grpSpPr>
          <p:sp>
            <p:nvSpPr>
              <p:cNvPr id="375" name="Google Shape;375;p8"/>
              <p:cNvSpPr/>
              <p:nvPr/>
            </p:nvSpPr>
            <p:spPr>
              <a:xfrm>
                <a:off x="0" y="0"/>
                <a:ext cx="285900" cy="285900"/>
              </a:xfrm>
              <a:prstGeom prst="ellipse">
                <a:avLst/>
              </a:prstGeom>
              <a:solidFill>
                <a:srgbClr val="00D2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" name="Google Shape;376;p8"/>
              <p:cNvSpPr txBox="1"/>
              <p:nvPr/>
            </p:nvSpPr>
            <p:spPr>
              <a:xfrm>
                <a:off x="0" y="0"/>
                <a:ext cx="2859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0D0E1A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14</a:t>
                </a:r>
                <a:endParaRPr b="0" sz="1000">
                  <a:solidFill>
                    <a:srgbClr val="0D0E1A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377" name="Google Shape;377;p8"/>
              <p:cNvSpPr txBox="1"/>
              <p:nvPr/>
            </p:nvSpPr>
            <p:spPr>
              <a:xfrm>
                <a:off x="428625" y="-47625"/>
                <a:ext cx="3333900" cy="4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FFFFF"/>
                    </a:solidFill>
                    <a:latin typeface="JetBrains Mono Medium"/>
                    <a:ea typeface="JetBrains Mono Medium"/>
                    <a:cs typeface="JetBrains Mono Medium"/>
                    <a:sym typeface="JetBrains Mono Medium"/>
                  </a:rPr>
                  <a:t>copado-hx status --json</a:t>
                </a:r>
                <a:endParaRPr b="0" sz="1100">
                  <a:solidFill>
                    <a:srgbClr val="FFFFFF"/>
                  </a:solidFill>
                  <a:latin typeface="JetBrains Mono Medium"/>
                  <a:ea typeface="JetBrains Mono Medium"/>
                  <a:cs typeface="JetBrains Mono Medium"/>
                  <a:sym typeface="JetBrains Mono Medium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A0A2BA"/>
                    </a:solidFill>
                    <a:latin typeface="Inter"/>
                    <a:ea typeface="Inter"/>
                    <a:cs typeface="Inter"/>
                    <a:sym typeface="Inter"/>
                  </a:rPr>
                  <a:t>JSON output</a:t>
                </a:r>
                <a:endParaRPr b="0" sz="9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78" name="Google Shape;378;p8"/>
          <p:cNvGrpSpPr/>
          <p:nvPr/>
        </p:nvGrpSpPr>
        <p:grpSpPr>
          <a:xfrm>
            <a:off x="8953500" y="1714500"/>
            <a:ext cx="2667000" cy="3810000"/>
            <a:chOff x="8953500" y="1714500"/>
            <a:chExt cx="2667000" cy="3810000"/>
          </a:xfrm>
        </p:grpSpPr>
        <p:sp>
          <p:nvSpPr>
            <p:cNvPr id="379" name="Google Shape;379;p8"/>
            <p:cNvSpPr/>
            <p:nvPr/>
          </p:nvSpPr>
          <p:spPr>
            <a:xfrm>
              <a:off x="8953500" y="1714500"/>
              <a:ext cx="2667000" cy="3810000"/>
            </a:xfrm>
            <a:prstGeom prst="roundRect">
              <a:avLst>
                <a:gd fmla="val 7142" name="adj"/>
              </a:avLst>
            </a:prstGeom>
            <a:solidFill>
              <a:srgbClr val="161728"/>
            </a:solidFill>
            <a:ln cap="flat" cmpd="sng" w="19050">
              <a:solidFill>
                <a:srgbClr val="00D2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8"/>
            <p:cNvSpPr txBox="1"/>
            <p:nvPr/>
          </p:nvSpPr>
          <p:spPr>
            <a:xfrm>
              <a:off x="9144000" y="1905000"/>
              <a:ext cx="2286000" cy="3429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Demo Recording</a:t>
              </a:r>
              <a:endParaRPr b="1" sz="16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50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41s at 1x speed</a:t>
              </a:r>
              <a:endParaRPr b="0" sz="14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A0A2BA"/>
                  </a:solidFill>
                  <a:latin typeface="Inter"/>
                  <a:ea typeface="Inter"/>
                  <a:cs typeface="Inter"/>
                  <a:sym typeface="Inter"/>
                </a:rPr>
                <a:t>~20s at 2x playback</a:t>
              </a:r>
              <a:endParaRPr b="0" sz="1000">
                <a:solidFill>
                  <a:srgbClr val="A0A2BA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-US" sz="800">
                  <a:solidFill>
                    <a:srgbClr val="6B6D82"/>
                  </a:solidFill>
                  <a:latin typeface="Inter"/>
                  <a:ea typeface="Inter"/>
                  <a:cs typeface="Inter"/>
                  <a:sym typeface="Inter"/>
                </a:rPr>
                <a:t>Recording Tool</a:t>
              </a:r>
              <a:endParaRPr b="1" sz="8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asciinema 3.2.0</a:t>
              </a:r>
              <a:endParaRPr b="0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1" lang="en-US" sz="800">
                  <a:solidFill>
                    <a:srgbClr val="6B6D82"/>
                  </a:solidFill>
                  <a:latin typeface="Inter"/>
                  <a:ea typeface="Inter"/>
                  <a:cs typeface="Inter"/>
                  <a:sym typeface="Inter"/>
                </a:rPr>
                <a:t>GIF Conversion</a:t>
              </a:r>
              <a:endParaRPr b="1" sz="8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FFFF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agg (asciinema gif)</a:t>
              </a:r>
              <a:endParaRPr b="0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875"/>
                </a:spcBef>
                <a:spcAft>
                  <a:spcPts val="0"/>
                </a:spcAft>
                <a:buNone/>
              </a:pPr>
              <a:r>
                <a:rPr b="0" lang="en-US" sz="1200">
                  <a:solidFill>
                    <a:srgbClr val="00D2FF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49 frames · 1.2MB</a:t>
              </a:r>
              <a:endParaRPr b="0" sz="1200">
                <a:solidFill>
                  <a:srgbClr val="00D2FF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grpSp>
        <p:nvGrpSpPr>
          <p:cNvPr id="381" name="Google Shape;381;p8"/>
          <p:cNvGrpSpPr/>
          <p:nvPr/>
        </p:nvGrpSpPr>
        <p:grpSpPr>
          <a:xfrm>
            <a:off x="571500" y="5762625"/>
            <a:ext cx="11049000" cy="571500"/>
            <a:chOff x="571500" y="5762625"/>
            <a:chExt cx="11049000" cy="571500"/>
          </a:xfrm>
        </p:grpSpPr>
        <p:sp>
          <p:nvSpPr>
            <p:cNvPr id="382" name="Google Shape;382;p8"/>
            <p:cNvSpPr/>
            <p:nvPr/>
          </p:nvSpPr>
          <p:spPr>
            <a:xfrm>
              <a:off x="571500" y="5762625"/>
              <a:ext cx="11049000" cy="19200"/>
            </a:xfrm>
            <a:prstGeom prst="rect">
              <a:avLst/>
            </a:prstGeom>
            <a:solidFill>
              <a:srgbClr val="2D2F4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3" name="Google Shape;383;p8"/>
            <p:cNvSpPr txBox="1"/>
            <p:nvPr/>
          </p:nvSpPr>
          <p:spPr>
            <a:xfrm>
              <a:off x="571500" y="5905500"/>
              <a:ext cx="1104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00D2FF"/>
                  </a:solidFill>
                  <a:latin typeface="Inter"/>
                  <a:ea typeface="Inter"/>
                  <a:cs typeface="Inter"/>
                  <a:sym typeface="Inter"/>
                </a:rPr>
                <a:t>github.com/devkdas/copado-hx</a:t>
              </a:r>
              <a:endParaRPr b="1" sz="1400">
                <a:solidFill>
                  <a:srgbClr val="00D2FF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384" name="Google Shape;384;p8"/>
            <p:cNvSpPr txBox="1"/>
            <p:nvPr/>
          </p:nvSpPr>
          <p:spPr>
            <a:xfrm>
              <a:off x="571500" y="6143625"/>
              <a:ext cx="11049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6B6D82"/>
                  </a:solidFill>
                  <a:latin typeface="Inter"/>
                  <a:ea typeface="Inter"/>
                  <a:cs typeface="Inter"/>
                  <a:sym typeface="Inter"/>
                </a:rPr>
                <a:t>No Browser. No Context Switching. Just Your Terminal and AI. · Built for CopadoCON Bangalore 2026</a:t>
              </a:r>
              <a:endParaRPr b="0" sz="10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85" name="Google Shape;385;p8"/>
          <p:cNvSpPr/>
          <p:nvPr/>
        </p:nvSpPr>
        <p:spPr>
          <a:xfrm>
            <a:off x="0" y="6477000"/>
            <a:ext cx="12192000" cy="381000"/>
          </a:xfrm>
          <a:prstGeom prst="rect">
            <a:avLst/>
          </a:prstGeom>
          <a:solidFill>
            <a:srgbClr val="090A14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8"/>
          <p:cNvSpPr txBox="1"/>
          <p:nvPr/>
        </p:nvSpPr>
        <p:spPr>
          <a:xfrm>
            <a:off x="571500" y="6477000"/>
            <a:ext cx="4762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rPr>
              <a:t>copado-hx · CopadoCON Bangalore 2026</a:t>
            </a:r>
            <a:endParaRPr b="0" sz="900">
              <a:solidFill>
                <a:srgbClr val="6B6D8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7" name="Google Shape;387;p8"/>
          <p:cNvSpPr txBox="1"/>
          <p:nvPr/>
        </p:nvSpPr>
        <p:spPr>
          <a:xfrm>
            <a:off x="10953750" y="6477000"/>
            <a:ext cx="6669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6B6D82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b="0" sz="900">
              <a:solidFill>
                <a:srgbClr val="6B6D8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